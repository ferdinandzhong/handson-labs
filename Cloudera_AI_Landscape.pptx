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3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41366" y="0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24409" y="0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90493" y="0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73535" y="0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242E0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58324" y="383042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41366" y="383042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07451" y="383042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790493" y="383042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242E0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73535" y="383042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58324" y="766084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41366" y="766084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24409" y="766084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242E0">
              <a:alpha val="9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90493" y="766084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73535" y="766084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58324" y="1149126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07451" y="1149126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242E0">
              <a:alpha val="9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90493" y="1149126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73535" y="1149126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41366" y="1532169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6E6EF7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07451" y="1532169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242E0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790493" y="1532169"/>
            <a:ext cx="323698" cy="323698"/>
          </a:xfrm>
          <a:prstGeom prst="roundRect">
            <a:avLst>
              <a:gd name="adj" fmla="val 20000"/>
            </a:avLst>
          </a:prstGeom>
          <a:solidFill>
            <a:srgbClr val="4F4FF5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4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indent="0" marL="0">
              <a:buNone/>
            </a:pPr>
            <a:r>
              <a:rPr lang="en-US" sz="2100" b="1" spc="4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indent="0" marL="0">
              <a:buNone/>
            </a:pPr>
            <a:r>
              <a:rPr lang="en-US" sz="2100" b="1" spc="4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66928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Cloudera </a:t>
            </a:r>
            <a:pPr indent="0" marL="0">
              <a:buNone/>
            </a:pPr>
            <a:r>
              <a:rPr lang="en-US" sz="54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566928" y="27614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Agentic Era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66928" y="3611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latest in the AI landscape — and the anatomy of the AI agent: tools, memory, and control.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89888" y="1051560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Latest in the AI Landscape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1728216"/>
            <a:ext cx="7498080" cy="0"/>
          </a:xfrm>
          <a:prstGeom prst="line">
            <a:avLst/>
          </a:prstGeom>
          <a:noFill/>
          <a:ln w="12700">
            <a:solidFill>
              <a:srgbClr val="E2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28216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89888" y="1728216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Cloudera AI — Architecture &amp; 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404872"/>
            <a:ext cx="7498080" cy="0"/>
          </a:xfrm>
          <a:prstGeom prst="line">
            <a:avLst/>
          </a:prstGeom>
          <a:noFill/>
          <a:ln w="12700">
            <a:solidFill>
              <a:srgbClr val="E2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04872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89888" y="240487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Studios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3081528"/>
            <a:ext cx="7498080" cy="0"/>
          </a:xfrm>
          <a:prstGeom prst="line">
            <a:avLst/>
          </a:prstGeom>
          <a:noFill/>
          <a:ln w="12700">
            <a:solidFill>
              <a:srgbClr val="E2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81528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89888" y="3081528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Hands-on Lab &amp; Demos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7498080" cy="0"/>
          </a:xfrm>
          <a:prstGeom prst="line">
            <a:avLst/>
          </a:prstGeom>
          <a:noFill/>
          <a:ln w="12700">
            <a:solidFill>
              <a:srgbClr val="E2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58184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89888" y="3758184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7498080" cy="0"/>
          </a:xfrm>
          <a:prstGeom prst="line">
            <a:avLst/>
          </a:prstGeom>
          <a:noFill/>
          <a:ln w="12700">
            <a:solidFill>
              <a:srgbClr val="E2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3312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16509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22904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76102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10115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63312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69707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22904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76102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10115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63312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16509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22904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76102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10115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69707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22904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676102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63312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69707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22904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E5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566928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Latest in the AI Landscape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566928" y="2788920"/>
            <a:ext cx="822960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foundation models to autonomous agents — what changed, why it matters, and how to build for production.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GENAI &amp; AGENT DEVELOPMENT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Years of Increasing Autonomy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3831336"/>
            <a:ext cx="1865376" cy="54864"/>
          </a:xfrm>
          <a:prstGeom prst="rect">
            <a:avLst/>
          </a:prstGeom>
          <a:solidFill>
            <a:srgbClr val="BFBF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8191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 LLM deployments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Basic cluster setup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integration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15184" y="141732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3831336"/>
            <a:ext cx="1865376" cy="54864"/>
          </a:xfrm>
          <a:prstGeom prst="rect">
            <a:avLst/>
          </a:prstGeom>
          <a:solidFill>
            <a:srgbClr val="6E6EF7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158191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79776" y="20939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EXPANSION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79776" y="2441448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at scale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Multimodal (VLM)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 agents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831336"/>
            <a:ext cx="1865376" cy="54864"/>
          </a:xfrm>
          <a:prstGeom prst="rect">
            <a:avLst/>
          </a:prstGeom>
          <a:solidFill>
            <a:srgbClr val="F681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58191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28032" y="20939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441448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Reasoning agents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Deep data &amp; API integration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Fine-tuning at scale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11696" y="141732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1696" y="3831336"/>
            <a:ext cx="1865376" cy="54864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58191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76288" y="209397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76288" y="2441448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Self-correcting loops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&amp; “computer use”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&amp; harness engineering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INCREASING AUTONOMY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35808" y="4169664"/>
            <a:ext cx="5029200" cy="54864"/>
          </a:xfrm>
          <a:prstGeom prst="rect">
            <a:avLst/>
          </a:prstGeom>
          <a:solidFill>
            <a:srgbClr val="4F4F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510528" y="4169664"/>
            <a:ext cx="1554480" cy="54864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9" name="Text 27"/>
          <p:cNvSpPr/>
          <p:nvPr/>
        </p:nvSpPr>
        <p:spPr>
          <a:xfrm>
            <a:off x="8065008" y="4050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NOW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2025–26: The Years of the Agent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agents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are autonomous software systems that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reason, plan, and act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on behalf of users — orchestrating multi-step workflows and choosing their own course of 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7889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Highly interactive; manage complex, multi-step tasks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Apply reasoning to pick the best next 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leap from chatbot to autonomous operator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17320"/>
            <a:ext cx="1883664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1572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09744" y="21031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 common customer-service issues resolved autonomously by 2029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09744" y="25054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6A6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Gartner, Nov 2024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693408" y="141732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93408" y="1417320"/>
            <a:ext cx="1883664" cy="45720"/>
          </a:xfrm>
          <a:prstGeom prst="rect">
            <a:avLst/>
          </a:prstGeom>
          <a:solidFill>
            <a:srgbClr val="4F4F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712" y="1572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~45%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39712" y="21031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AI-agent market CAGR through the early 2030s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39712" y="25054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6A6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Grand View / Precedence, 2025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3913632" cy="1417320"/>
          </a:xfrm>
          <a:prstGeom prst="roundRect">
            <a:avLst>
              <a:gd name="adj" fmla="val 5806"/>
            </a:avLst>
          </a:prstGeom>
          <a:solidFill>
            <a:srgbClr val="FBF3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788920"/>
            <a:ext cx="54864" cy="14173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077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87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⚠  THE REALITY CHECK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Only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2%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of orgs run agents at scale;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61%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are still exploring (Capgemini, 2025). Gartner expects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&gt;40%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of agentic-AI projects to be scrapped by 2027 — on cost, unclear value, and weak controls.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· Governed, enterprise-grade data is what separates the 2% from the 40%.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 &amp; ORCHESTRATION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Single-Agent to Multi-Agent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89534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63624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9E9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636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SINGLE AGENT · 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46504" y="19659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3EE"/>
          </a:solidFill>
          <a:ln w="15240">
            <a:solidFill>
              <a:srgbClr val="EE5A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196596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 (tool)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7752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25496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Observe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02736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Reflect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model loops — reason, call a tool, observe, self-correct — until the task is done.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1417320"/>
            <a:ext cx="389534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563624"/>
            <a:ext cx="1821485" cy="256032"/>
          </a:xfrm>
          <a:prstGeom prst="roundRect">
            <a:avLst>
              <a:gd name="adj" fmla="val 50000"/>
            </a:avLst>
          </a:prstGeom>
          <a:solidFill>
            <a:srgbClr val="FF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563624"/>
            <a:ext cx="1821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MULTI-AGENT · Orchestrated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3EE"/>
          </a:solidFill>
          <a:ln w="15240">
            <a:solidFill>
              <a:srgbClr val="EE5A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61304" y="19659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61304" y="196596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02552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0296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Writer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17536" y="19659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55280" y="1965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965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Specialized agents coordinate via a planner, with feedback loops between roles.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71800"/>
          <a:ext cx="801014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1638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Dimension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 Agent (ReAct)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Multi-Agent (Orchestrated)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Coordination cost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 allocation + inter-agent comms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Failure mode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Single-point hallucination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Cascading misunderstanding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Best for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Simple, linear toolchains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Creativity · review · negotiation · parallelism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· Patterns: ReAct (Yao 2022), Reflexion (Shinn 2023); frameworks: LangGraph, AutoGen, CrewAI.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3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5761" y="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61681" y="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13521" y="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89441" y="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242E0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9840" y="27592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5761" y="27592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37601" y="27592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13521" y="27592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242E0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89441" y="27592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09840" y="55184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85761" y="55184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61681" y="55184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242E0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13521" y="55184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89441" y="551840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09840" y="82776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37601" y="82776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242E0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13521" y="82776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89441" y="82776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85761" y="110368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6E6EF7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37601" y="110368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242E0">
              <a:alpha val="5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13521" y="1103681"/>
            <a:ext cx="233172" cy="233172"/>
          </a:xfrm>
          <a:prstGeom prst="roundRect">
            <a:avLst>
              <a:gd name="adj" fmla="val 20000"/>
            </a:avLst>
          </a:prstGeom>
          <a:solidFill>
            <a:srgbClr val="4F4FF5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Autonomy Shift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566928" y="137160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14904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Autonomous loops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3232" y="182880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Self-correcting reason–act–observe cycles replace rigid, human-coded decision trees.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00984" y="137160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14904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— “USB-C for AI”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47288" y="182880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Model Context Protocol standardizes tool/data connections. Adopted by OpenAI &amp; Google; donated to the Linux Foundation (Dec 2025).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137160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4904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Universal “computer use”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81344" y="182880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drive GUIs, browsers &amp; keyboards like humans. Still hard: ~22% vs ~72% human on OSWorld.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283464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29535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3232" y="329184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Curating the token budget beats prompt-tweaking. Beware context rot — more tokens ≠ better.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00984" y="283464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29535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“Harm over failure” risk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447288" y="329184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Stress tests (Anthropic Agentic Misalignment, Jun 2025) show models may act harmfully to avoid failure — in the lab, not yet in deployment.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2834640"/>
            <a:ext cx="2542032" cy="1298448"/>
          </a:xfrm>
          <a:prstGeom prst="roundRect">
            <a:avLst>
              <a:gd name="adj" fmla="val 5634"/>
            </a:avLst>
          </a:prstGeom>
          <a:solidFill>
            <a:srgbClr val="EE5A29">
              <a:alpha val="22000"/>
            </a:srgbClr>
          </a:solidFill>
          <a:ln w="12700">
            <a:solidFill>
              <a:srgbClr val="EE5A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29535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814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The takeaway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181344" y="3291840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More autonomy demands more governance: observability, guardrails, and human oversight.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ANATOMY OF AN AGENT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Three Things Make an Agent 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2542032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10512"/>
            <a:ext cx="457200" cy="457200"/>
          </a:xfrm>
          <a:prstGeom prst="ellipse">
            <a:avLst/>
          </a:prstGeom>
          <a:solidFill>
            <a:srgbClr val="EE5A29">
              <a:alpha val="15000"/>
            </a:srgbClr>
          </a:solidFill>
          <a:ln w="16510">
            <a:solidFill>
              <a:srgbClr val="EE5A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the agent acts on the world — APIs, search, code execution, MCP servers. Tool design directly drives task accuracy.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00984" y="155448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1554480"/>
            <a:ext cx="2542032" cy="45720"/>
          </a:xfrm>
          <a:prstGeom prst="rect">
            <a:avLst/>
          </a:prstGeom>
          <a:solidFill>
            <a:srgbClr val="4F4F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83864" y="1810512"/>
            <a:ext cx="457200" cy="457200"/>
          </a:xfrm>
          <a:prstGeom prst="ellipse">
            <a:avLst/>
          </a:prstGeom>
          <a:solidFill>
            <a:srgbClr val="4F4FF5">
              <a:alpha val="15000"/>
            </a:srgbClr>
          </a:solidFill>
          <a:ln w="16510">
            <a:solidFill>
              <a:srgbClr val="4F4F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83864" y="2395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3864" y="28346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the agent remembers — factual, experiential, and working memory across a task and over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55448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554480"/>
            <a:ext cx="2542032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810512"/>
            <a:ext cx="457200" cy="457200"/>
          </a:xfrm>
          <a:prstGeom prst="ellipse">
            <a:avLst/>
          </a:prstGeom>
          <a:solidFill>
            <a:srgbClr val="EE5A29">
              <a:alpha val="15000"/>
            </a:srgbClr>
          </a:solidFill>
          <a:ln w="16510">
            <a:solidFill>
              <a:srgbClr val="EE5A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8346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the agent decides — the reasoning loop and orchestration that turn a model into an operator.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02336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Next: a closer look at </a:t>
            </a:r>
            <a:pPr algn="ctr" indent="0" marL="0">
              <a:buNone/>
            </a:pPr>
            <a:r>
              <a:rPr lang="en-US" sz="12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Tools</a:t>
            </a:r>
            <a:pPr algn="ctr"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and </a:t>
            </a:r>
            <a:pPr algn="ctr" indent="0" marL="0">
              <a:buNone/>
            </a:pPr>
            <a:r>
              <a:rPr lang="en-US" sz="12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</a:t>
            </a:r>
            <a:pPr algn="ctr"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CHATBOT TO REAL AI AGENT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Tools Are Important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801014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432304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Concept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challenge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Best practice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Impact</a:t>
                      </a:r>
                      <a:endParaRPr lang="en-US" sz="9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A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Tool descriptions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Injected into the system prompt — easily overlooked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Treat as prompt engineering: clear, specific, 3–4 sentences, with examples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“The most important factor in tool performance”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Overlapping tools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Models confuse similar tools (Web vs Drive search)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Consolidate &amp; use namespace_ prefixes; scope each tool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Removes a key failure mode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Tool-use examples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JSON Schema shows structure, not when/how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Provide input_examples (now an official field)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5A29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72% → 90%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on complex params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Progressive disclosure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Preloading all tools floods context (up to 134K tokens)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Load on demand via the Tool Search Tool (GA Nov 2025)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5A29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77K → 8.7K tokens
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49% → 74% accuracy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50208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6F6FB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Programmatic tool calling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83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Claude calls tools from sandboxed code — fewer round-trips, ~37% fewer tokens.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3300984" y="3950208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6F6FB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connector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29000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83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Attach whole MCP servers (200+ tools) with defer_loading to protect the cache.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035040" y="3950208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6F6FB"/>
          </a:solidFill>
          <a:ln/>
        </p:spPr>
      </p:sp>
      <p:sp>
        <p:nvSpPr>
          <p:cNvPr id="14" name="Text 11"/>
          <p:cNvSpPr/>
          <p:nvPr/>
        </p:nvSpPr>
        <p:spPr>
          <a:xfrm>
            <a:off x="6163056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Strict tool use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3056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83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strict:true guarantees calls match your schema exactly.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· Source: Anthropic Engineering — “Advanced Tool Use” &amp; “Writing Tools for Agents”.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Overlapping Domains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1865376" cy="45720"/>
          </a:xfrm>
          <a:prstGeom prst="rect">
            <a:avLst/>
          </a:prstGeom>
          <a:solidFill>
            <a:srgbClr val="4F4F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92224"/>
            <a:ext cx="310896" cy="310896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memory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Persistent, self-evolving cognitive state — integrates factual knowledge &amp; past experience over 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554480"/>
            <a:ext cx="1865376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9776" y="1792224"/>
            <a:ext cx="310896" cy="310896"/>
          </a:xfrm>
          <a:prstGeom prst="ellipse">
            <a:avLst/>
          </a:prstGeom>
          <a:solidFill>
            <a:srgbClr val="EE5A29"/>
          </a:solidFill>
          <a:ln/>
        </p:spPr>
      </p:sp>
      <p:sp>
        <p:nvSpPr>
          <p:cNvPr id="14" name="Text 12"/>
          <p:cNvSpPr/>
          <p:nvPr/>
        </p:nvSpPr>
        <p:spPr>
          <a:xfrm>
            <a:off x="2779776" y="219456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 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9776" y="285292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Architectural optimizations — context-window expansion, KV compression/reuse, long-context processing.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54480"/>
            <a:ext cx="1865376" cy="45720"/>
          </a:xfrm>
          <a:prstGeom prst="rect">
            <a:avLst/>
          </a:prstGeom>
          <a:solidFill>
            <a:srgbClr val="4F4F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828032" y="1792224"/>
            <a:ext cx="310896" cy="310896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19456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85292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Static knowledge access — retrieving fixed information from external databases to augment responses.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11696" y="1554480"/>
            <a:ext cx="1865376" cy="24688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1696" y="1554480"/>
            <a:ext cx="1865376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3" name="Shape 21"/>
          <p:cNvSpPr/>
          <p:nvPr/>
        </p:nvSpPr>
        <p:spPr>
          <a:xfrm>
            <a:off x="6876288" y="1792224"/>
            <a:ext cx="310896" cy="310896"/>
          </a:xfrm>
          <a:prstGeom prst="ellipse">
            <a:avLst/>
          </a:prstGeom>
          <a:solidFill>
            <a:srgbClr val="EE5A29"/>
          </a:solidFill>
          <a:ln/>
        </p:spPr>
      </p:sp>
      <p:sp>
        <p:nvSpPr>
          <p:cNvPr id="24" name="Text 22"/>
          <p:cNvSpPr/>
          <p:nvPr/>
        </p:nvSpPr>
        <p:spPr>
          <a:xfrm>
            <a:off x="6876288" y="219456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6288" y="285292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Transient resource management — the prompt, tools &amp; protocols set up for one temporary task.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Three Functions of Memory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55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Factual (semantic)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truths &amp; general knowledge; helps the agent understand entities. Often in the model’s parametric memory.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00984" y="15087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1655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Experiential (episodic)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65576" y="2020824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Specific past events &amp; interactions; stored in a vector DB; key to personalization &amp; learning from mistakes.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655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2020824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Temporary scratchpad for the current task — intermediate reasoning; cleared or promoted to long-term after.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22576" y="2907792"/>
            <a:ext cx="694944" cy="201168"/>
          </a:xfrm>
          <a:prstGeom prst="roundRect">
            <a:avLst>
              <a:gd name="adj" fmla="val 18182"/>
            </a:avLst>
          </a:prstGeom>
          <a:solidFill>
            <a:srgbClr val="EE5A29"/>
          </a:solidFill>
          <a:ln/>
        </p:spPr>
      </p:sp>
      <p:sp>
        <p:nvSpPr>
          <p:cNvPr id="16" name="Text 14"/>
          <p:cNvSpPr/>
          <p:nvPr/>
        </p:nvSpPr>
        <p:spPr>
          <a:xfrm>
            <a:off x="2322576" y="29077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source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44384" y="29077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4F4FF5"/>
          </a:solidFill>
          <a:ln/>
        </p:spPr>
      </p:sp>
      <p:sp>
        <p:nvSpPr>
          <p:cNvPr id="18" name="Text 16"/>
          <p:cNvSpPr/>
          <p:nvPr/>
        </p:nvSpPr>
        <p:spPr>
          <a:xfrm>
            <a:off x="7644384" y="29077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lands here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8010144" cy="1417320"/>
          </a:xfrm>
          <a:prstGeom prst="roundRect">
            <a:avLst>
              <a:gd name="adj" fmla="val 5161"/>
            </a:avLst>
          </a:prstGeom>
          <a:solidFill>
            <a:srgbClr val="F6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4655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Experiential memory comes in flavors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374904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74904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Case-based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91056" y="374904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3749040"/>
            <a:ext cx="90708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749040"/>
            <a:ext cx="907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Skill-based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35885" y="374904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73629" y="3749040"/>
            <a:ext cx="110459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3629" y="3749040"/>
            <a:ext cx="11045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Strategy-based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78224" y="374904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15968" y="374904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37490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" y="4078224"/>
            <a:ext cx="7644384" cy="12802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pipeline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" y="437083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370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Factual store (vector DB)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78608" y="437083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16352" y="4370832"/>
            <a:ext cx="103875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4370832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retrieval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5110" y="437083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92854" y="4370832"/>
            <a:ext cx="1894637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2854" y="4370832"/>
            <a:ext cx="1894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Working context (injected)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87491" y="437083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25235" y="4370832"/>
            <a:ext cx="97292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E2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5235" y="4370832"/>
            <a:ext cx="97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 response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Recent Memory Mechanisms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801014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07792"/>
                <a:gridCol w="29077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Feature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LightMem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MemSearch</a:t>
                      </a:r>
                      <a:endParaRPr lang="en-US" sz="11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goal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Token efficiency &amp; prompt compression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Data transparency &amp; easy auditing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Source of truth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Vector database (summaries)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Local .md files (full text)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Vector-DB role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Core persistent storage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Disposable search index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Update mechanism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“Sleep-time” offline summaries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Real-time file-watcher syncing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Best feature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Massive API cost/latency reduction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Git-friendly, editable memory files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3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37069" y="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96758" y="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6138" y="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75827" y="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242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77379" y="25969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37069" y="25969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56448" y="25969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6138" y="25969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242E0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675827" y="259690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77379" y="51937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37069" y="51937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96758" y="51937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242E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6138" y="51937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75827" y="51937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77379" y="77906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56448" y="77906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242E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16138" y="77906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75827" y="77906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37069" y="1038758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6E6EF7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56448" y="1038758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242E0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6138" y="1038758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4F4FF5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ENGINEERING EVOLUTION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Prompt to Harness Engineering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1828800" y="1417320"/>
            <a:ext cx="1673352" cy="402336"/>
          </a:xfrm>
          <a:prstGeom prst="roundRect">
            <a:avLst>
              <a:gd name="adj" fmla="val 15909"/>
            </a:avLst>
          </a:prstGeom>
          <a:solidFill>
            <a:srgbClr val="23236B">
              <a:alpha val="70000"/>
            </a:srgbClr>
          </a:solidFill>
          <a:ln w="15240">
            <a:solidFill>
              <a:srgbClr val="3A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1417320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02152" y="1417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67912" y="1417320"/>
            <a:ext cx="1751076" cy="402336"/>
          </a:xfrm>
          <a:prstGeom prst="roundRect">
            <a:avLst>
              <a:gd name="adj" fmla="val 15909"/>
            </a:avLst>
          </a:prstGeom>
          <a:solidFill>
            <a:srgbClr val="23236B">
              <a:alpha val="70000"/>
            </a:srgbClr>
          </a:solidFill>
          <a:ln w="15240">
            <a:solidFill>
              <a:srgbClr val="3A3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1417320"/>
            <a:ext cx="1751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18988" y="1417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84748" y="1417320"/>
            <a:ext cx="1751076" cy="402336"/>
          </a:xfrm>
          <a:prstGeom prst="roundRect">
            <a:avLst>
              <a:gd name="adj" fmla="val 15909"/>
            </a:avLst>
          </a:prstGeom>
          <a:solidFill>
            <a:srgbClr val="EE5A29"/>
          </a:solidFill>
          <a:ln w="15240">
            <a:solidFill>
              <a:srgbClr val="EE5A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4748" y="1417320"/>
            <a:ext cx="1751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Harness engineering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148840"/>
            <a:ext cx="1901952" cy="1554480"/>
          </a:xfrm>
          <a:prstGeom prst="roundRect">
            <a:avLst>
              <a:gd name="adj" fmla="val 4706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22951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· Tiered context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" y="275234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layers feed the model only what it needs.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2148840"/>
            <a:ext cx="1901952" cy="1554480"/>
          </a:xfrm>
          <a:prstGeom prst="roundRect">
            <a:avLst>
              <a:gd name="adj" fmla="val 4706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98064" y="22951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· Specialized roles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98064" y="275234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Sub-agents with focused jobs and clean contexts.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36592" y="2148840"/>
            <a:ext cx="1901952" cy="1554480"/>
          </a:xfrm>
          <a:prstGeom prst="roundRect">
            <a:avLst>
              <a:gd name="adj" fmla="val 4706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2951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· Persistent memory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82896" y="275234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File-based state that survives the context window.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21424" y="2148840"/>
            <a:ext cx="1901952" cy="1554480"/>
          </a:xfrm>
          <a:prstGeom prst="roundRect">
            <a:avLst>
              <a:gd name="adj" fmla="val 4706"/>
            </a:avLst>
          </a:prstGeom>
          <a:solidFill>
            <a:srgbClr val="23236B">
              <a:alpha val="60000"/>
            </a:srgbClr>
          </a:solidFill>
          <a:ln w="12700">
            <a:solidFill>
              <a:srgbClr val="3A3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22951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· Structured execution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67728" y="275234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→ execute → verify, with feedback loops &amp; guardrails.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" y="3867912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the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</a:t>
            </a:r>
            <a:pPr algn="ctr" indent="0" marL="0">
              <a:buNone/>
            </a:pPr>
            <a:r>
              <a:rPr lang="en-US" sz="120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on which the model performs — not just the line it reads.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03088" y="45720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23825" y="45720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65297" y="45720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86033" y="45720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242E0">
              <a:alpha val="5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82352" y="266456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03088" y="266456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44561" y="266456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65297" y="266456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242E0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86033" y="266456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82352" y="487192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03088" y="487192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23825" y="487192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242E0">
              <a:alpha val="5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65297" y="487192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86033" y="487192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82352" y="707928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44561" y="707928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242E0">
              <a:alpha val="5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65297" y="707928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86033" y="707928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03088" y="928665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6E6EF7">
              <a:alpha val="5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44561" y="928665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242E0">
              <a:alpha val="5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65297" y="928665"/>
            <a:ext cx="186538" cy="186538"/>
          </a:xfrm>
          <a:prstGeom prst="roundRect">
            <a:avLst>
              <a:gd name="adj" fmla="val 20000"/>
            </a:avLst>
          </a:prstGeom>
          <a:solidFill>
            <a:srgbClr val="4F4FF5">
              <a:alpha val="5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SUMMARY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Five Things to Remember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566928" y="1737360"/>
            <a:ext cx="91440" cy="3840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169164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is about autonomy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self-correcting loops, MCP connectivity, and “computer use”.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2340864"/>
            <a:ext cx="91440" cy="3840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29514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= Tools + Memory + Control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all three to go from chatbot to operator.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2944368"/>
            <a:ext cx="91440" cy="3840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2898648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design is the highest-leverage work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clear descriptions &amp; progressive disclosure move accuracy double digits.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3547872"/>
            <a:ext cx="91440" cy="3840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502152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 is multi-layered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factual, experiential, and working — with new transparent &amp; efficient mechanisms.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66928" y="4151376"/>
            <a:ext cx="91440" cy="3840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105656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 needs governance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only 2% are at scale; the gap is data, controls, and oversight.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3312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16509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22904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76102" y="137160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10115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63312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69707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22904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76102" y="390357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10115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63312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16509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22904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76102" y="643555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10115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69707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22904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676102" y="896752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63312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6E6EF7">
              <a:alpha val="7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69707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242E0">
              <a:alpha val="7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22904" y="1149949"/>
            <a:ext cx="213970" cy="213970"/>
          </a:xfrm>
          <a:prstGeom prst="roundRect">
            <a:avLst>
              <a:gd name="adj" fmla="val 20000"/>
            </a:avLst>
          </a:prstGeom>
          <a:solidFill>
            <a:srgbClr val="4F4FF5">
              <a:alpha val="7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E5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566928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Harness Engineering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566928" y="2715768"/>
            <a:ext cx="822960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94436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is no longer the bottleneck. The new paradigm: build the environment that lets agents run reliably at scale.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C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CORE INSIGHT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Bottleneck Is Infrastructure, Not Intelligence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840480" cy="2423160"/>
          </a:xfrm>
          <a:prstGeom prst="roundRect">
            <a:avLst>
              <a:gd name="adj" fmla="val 3396"/>
            </a:avLst>
          </a:prstGeom>
          <a:solidFill>
            <a:srgbClr val="FFF4F1"/>
          </a:solidFill>
          <a:ln w="19050">
            <a:solidFill>
              <a:srgbClr val="EE5A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840480" cy="45720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8196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Focusing purely on Model Intelligence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167128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Power without route: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untethered capability, zero system integration. Potential trapped.
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E5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MODEL_STATUS: ISOLATED_ENGINE  //  UTILIZATION: 0.0%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417320"/>
            <a:ext cx="3840480" cy="2423160"/>
          </a:xfrm>
          <a:prstGeom prst="roundRect">
            <a:avLst>
              <a:gd name="adj" fmla="val 3396"/>
            </a:avLst>
          </a:prstGeom>
          <a:solidFill>
            <a:srgbClr val="F1FBF5"/>
          </a:solidFill>
          <a:ln w="19050">
            <a:solidFill>
              <a:srgbClr val="1FA9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417320"/>
            <a:ext cx="3840480" cy="45720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196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Focusing on System Infrastructure (Harness)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2167128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Can.ac benchmark: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FA9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6.7% → 68.3%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by changing harness tool formats only — zero model changes.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LangChain Terminal Bench 2.0: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FA9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30th → 5th place (+13.7 pts)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purely through environmental constraints.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 · Empirical proof: harness adjustments alone, zero model weight changes.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ENGINEERING EVOLUTION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Three Eras of AI Engineering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2542032" cy="3090672"/>
          </a:xfrm>
          <a:prstGeom prst="roundRect">
            <a:avLst>
              <a:gd name="adj" fmla="val 323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453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98424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QUESTION: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do I ask?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532888"/>
            <a:ext cx="221284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METAPHOR: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Chatbot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1363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BOTTLENECK: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Input expression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6667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THE FIX: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" y="38496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Chain-of-Thought, Few-Shot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00984" y="1417320"/>
            <a:ext cx="2542032" cy="3090672"/>
          </a:xfrm>
          <a:prstGeom prst="roundRect">
            <a:avLst>
              <a:gd name="adj" fmla="val 323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65576" y="15453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65576" y="198424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QUESTION: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65576" y="2176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do I show?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65576" y="2532888"/>
            <a:ext cx="221284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22" name="Text 20"/>
          <p:cNvSpPr/>
          <p:nvPr/>
        </p:nvSpPr>
        <p:spPr>
          <a:xfrm>
            <a:off x="3465576" y="2606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METAPHOR: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65576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Researcher (RAG)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65576" y="31363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BOTTLENECK: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65576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Window overload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65576" y="36667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THE FIX: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65576" y="38496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Vector search, Tool calling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417320"/>
            <a:ext cx="2542032" cy="3090672"/>
          </a:xfrm>
          <a:prstGeom prst="roundRect">
            <a:avLst>
              <a:gd name="adj" fmla="val 3237"/>
            </a:avLst>
          </a:prstGeom>
          <a:solidFill>
            <a:srgbClr val="E9E9FE"/>
          </a:solidFill>
          <a:ln w="25400">
            <a:solidFill>
              <a:srgbClr val="4F4F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9632" y="15453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HARNESS ENGINEERING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99632" y="198424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QUESTION: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99632" y="2176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does it run?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9632" y="2532888"/>
            <a:ext cx="221284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2606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METAPHOR: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99632" y="2788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Autonomous Worker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99632" y="31363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BOTTLENECK: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99632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Environmental constraints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9632" y="36667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F4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THE FIX: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99632" y="38496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Execution loops, Memory, State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HARNESS ENGINEERING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Four Pillars of a Production Harness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389888"/>
            <a:ext cx="1901952" cy="3154680"/>
          </a:xfrm>
          <a:prstGeom prst="roundRect">
            <a:avLst>
              <a:gd name="adj" fmla="val 4327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299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Progressive Context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157276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426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RULE: Give the agent only what it needs for this step.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Always-On: AGENTS.md, project structure, dynamic feedback loop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On-Demand: loaded by active skills &amp; sub-agent roles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Cold Storage: vector DBs, full codebase — queried via tools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1389888"/>
            <a:ext cx="1901952" cy="3154680"/>
          </a:xfrm>
          <a:prstGeom prst="roundRect">
            <a:avLst>
              <a:gd name="adj" fmla="val 4327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16352" y="1554480"/>
            <a:ext cx="365760" cy="365760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15" name="Text 13"/>
          <p:cNvSpPr/>
          <p:nvPr/>
        </p:nvSpPr>
        <p:spPr>
          <a:xfrm>
            <a:off x="281635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16352" y="20299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Specialization &amp; Parallelism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2578608"/>
            <a:ext cx="157276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18" name="Text 16"/>
          <p:cNvSpPr/>
          <p:nvPr/>
        </p:nvSpPr>
        <p:spPr>
          <a:xfrm>
            <a:off x="2816352" y="26426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RULE: Focused agents with restricted toolsets outperform generalist 'god-mode' agents.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16352" y="3236976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Planner Agent: read-only (Grep, Glob) → outputs structural JSON plan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Execution Agent: scoped write access, parallelizes tool calls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 Agent: read + flag access, critiques against the JSON plan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36592" y="1389888"/>
            <a:ext cx="1901952" cy="3154680"/>
          </a:xfrm>
          <a:prstGeom prst="roundRect">
            <a:avLst>
              <a:gd name="adj" fmla="val 4327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01184" y="1554480"/>
            <a:ext cx="365760" cy="365760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01184" y="20299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Persistent Memory &amp; 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01184" y="2578608"/>
            <a:ext cx="157276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26426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RULE: Memory lives in the file system, not the prompt window.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01184" y="3236976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Boot → read git log → find next task via progress.json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Execute → record state back to progress.json after every step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Failure mode: 'one-shot' attempts lose context and declare premature victory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21424" y="1389888"/>
            <a:ext cx="1901952" cy="3154680"/>
          </a:xfrm>
          <a:prstGeom prst="roundRect">
            <a:avLst>
              <a:gd name="adj" fmla="val 4327"/>
            </a:avLst>
          </a:prstGeom>
          <a:solidFill>
            <a:srgbClr val="F6F6FB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6016" y="1554480"/>
            <a:ext cx="365760" cy="365760"/>
          </a:xfrm>
          <a:prstGeom prst="ellipse">
            <a:avLst/>
          </a:prstGeom>
          <a:solidFill>
            <a:srgbClr val="4F4FF5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86016" y="20299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Execution &amp; Backpressure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6016" y="2578608"/>
            <a:ext cx="1572768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32" name="Text 30"/>
          <p:cNvSpPr/>
          <p:nvPr/>
        </p:nvSpPr>
        <p:spPr>
          <a:xfrm>
            <a:off x="6986016" y="26426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RULE: If a rule cannot be enforced mechanically, the agent will eventually deviate.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86016" y="3236976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Upstream: custom linters &amp; ArchUnit guide before execution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Downstream: CI/CD &amp; browser tests reject invalid outputs</a:t>
            </a:r>
            <a:endParaRPr lang="en-US" sz="8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Self-correction loop: reject → retry, separate thinking from execution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ENGINEERING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Context Paradox: More Info ≠ More Intelligence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2011680" cy="283464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7" name="Shape 5"/>
          <p:cNvSpPr/>
          <p:nvPr/>
        </p:nvSpPr>
        <p:spPr>
          <a:xfrm>
            <a:off x="2578608" y="1417320"/>
            <a:ext cx="3017520" cy="28346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8" name="Shape 6"/>
          <p:cNvSpPr/>
          <p:nvPr/>
        </p:nvSpPr>
        <p:spPr>
          <a:xfrm>
            <a:off x="2578608" y="1417320"/>
            <a:ext cx="0" cy="2834640"/>
          </a:xfrm>
          <a:prstGeom prst="line">
            <a:avLst/>
          </a:prstGeom>
          <a:noFill/>
          <a:ln w="19050">
            <a:solidFill>
              <a:srgbClr val="9A9AB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94944" y="15636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A9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SMART ZONE (0–40%)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1837944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Focused &amp; accurate reasoning.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 signal-to-noise.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79192" y="15636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7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DUMB ZONE (40–100%)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9192" y="1837944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Hallucinations, infinite loops, context overload.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Reasoning quality collapses.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3611880"/>
            <a:ext cx="1760220" cy="-1371600"/>
          </a:xfrm>
          <a:prstGeom prst="line">
            <a:avLst/>
          </a:prstGeom>
          <a:noFill/>
          <a:ln w="31750">
            <a:solidFill>
              <a:srgbClr val="1FA9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8024" y="2240280"/>
            <a:ext cx="2926080" cy="1645920"/>
          </a:xfrm>
          <a:prstGeom prst="line">
            <a:avLst/>
          </a:prstGeom>
          <a:noFill/>
          <a:ln w="31750">
            <a:solidFill>
              <a:srgbClr val="C887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0507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 FILLED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3560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44144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4728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45312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58968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52160" y="1417320"/>
            <a:ext cx="3255264" cy="768096"/>
          </a:xfrm>
          <a:prstGeom prst="roundRect">
            <a:avLst>
              <a:gd name="adj" fmla="val 10714"/>
            </a:avLst>
          </a:prstGeom>
          <a:solidFill>
            <a:srgbClr val="FBF3E0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1417320"/>
            <a:ext cx="3255264" cy="457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98464" y="150876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87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INDUSTRY CONSENSUS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98464" y="1728216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9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&gt; 40% degrades reasoning. Constraints must be mechanical.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2313432"/>
            <a:ext cx="3255264" cy="448056"/>
          </a:xfrm>
          <a:prstGeom prst="roundRect">
            <a:avLst>
              <a:gd name="adj" fmla="val 1836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98464" y="2368296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Progressive loading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98464" y="2551176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Search Tool, defer_loading — don't preload everything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52160" y="2825496"/>
            <a:ext cx="3255264" cy="448056"/>
          </a:xfrm>
          <a:prstGeom prst="roundRect">
            <a:avLst>
              <a:gd name="adj" fmla="val 1836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98464" y="2880360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compaction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98464" y="3063240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Summarize conversation mid-run before limits are hit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52160" y="3337560"/>
            <a:ext cx="3255264" cy="448056"/>
          </a:xfrm>
          <a:prstGeom prst="roundRect">
            <a:avLst>
              <a:gd name="adj" fmla="val 1836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98464" y="3392424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Sub-agents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98464" y="3575304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sub-agent gets a fresh, clean context window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52160" y="3849624"/>
            <a:ext cx="3255264" cy="448056"/>
          </a:xfrm>
          <a:prstGeom prst="roundRect">
            <a:avLst>
              <a:gd name="adj" fmla="val 18367"/>
            </a:avLst>
          </a:prstGeom>
          <a:solidFill>
            <a:srgbClr val="F6F6FB"/>
          </a:solidFill>
          <a:ln w="12700">
            <a:solidFill>
              <a:srgbClr val="E2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98464" y="3904488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notes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98464" y="4087368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Write progress.json — memory outside the prompt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 · Source: Harness Engineering PDF; context degradation is a practitioner-community consensus, not a single paper.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EVALUATING &amp; OPERATING AGENTS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Loop Evals, Observability &amp; the Maturity Model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Agentic Eval Benchmarks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Benchmark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it tests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SWE-bench Verified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Real GitHub issues solved end-to-end (2294 tasks)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τ-bench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Tool-agent in retail/airline environments; pass^k metric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GAIA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Multi-step real-world web tasks; human ~92% vs AI ~15-30%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WebArena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Browser automation across e-commerce, reddit, gitlab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154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AgentBench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 environments: OS, DB, web, code — measures task success rate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19472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Harness Maturity Model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19472" y="1700784"/>
            <a:ext cx="3657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9472" y="1700784"/>
            <a:ext cx="438912" cy="493776"/>
          </a:xfrm>
          <a:prstGeom prst="roundRect">
            <a:avLst>
              <a:gd name="adj" fmla="val 12500"/>
            </a:avLst>
          </a:prstGeom>
          <a:solidFill>
            <a:srgbClr val="5A5A7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472" y="1700784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49824" y="17556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Raw Interaction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9824" y="195681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 prompts, manual coding, zero constraints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19472" y="2212848"/>
            <a:ext cx="3657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19472" y="2212848"/>
            <a:ext cx="438912" cy="493776"/>
          </a:xfrm>
          <a:prstGeom prst="roundRect">
            <a:avLst>
              <a:gd name="adj" fmla="val 12500"/>
            </a:avLst>
          </a:prstGeom>
          <a:solidFill>
            <a:srgbClr val="C8870B"/>
          </a:solidFill>
          <a:ln/>
        </p:spPr>
      </p:sp>
      <p:sp>
        <p:nvSpPr>
          <p:cNvPr id="16" name="Text 13"/>
          <p:cNvSpPr/>
          <p:nvPr/>
        </p:nvSpPr>
        <p:spPr>
          <a:xfrm>
            <a:off x="4919472" y="2212848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49824" y="226771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Basic Constraints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9824" y="246888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AGENTS.md, basic linters, manual testing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919472" y="2724912"/>
            <a:ext cx="3657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19472" y="2724912"/>
            <a:ext cx="438912" cy="493776"/>
          </a:xfrm>
          <a:prstGeom prst="roundRect">
            <a:avLst>
              <a:gd name="adj" fmla="val 12500"/>
            </a:avLst>
          </a:prstGeom>
          <a:solidFill>
            <a:srgbClr val="4F4FF5"/>
          </a:solidFill>
          <a:ln/>
        </p:spPr>
      </p:sp>
      <p:sp>
        <p:nvSpPr>
          <p:cNvPr id="21" name="Text 18"/>
          <p:cNvSpPr/>
          <p:nvPr/>
        </p:nvSpPr>
        <p:spPr>
          <a:xfrm>
            <a:off x="4919472" y="272491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49824" y="277977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 Loops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9824" y="29809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CI/CD, automated tests, progress.json state tracking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919472" y="3236976"/>
            <a:ext cx="3657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19472" y="3236976"/>
            <a:ext cx="438912" cy="493776"/>
          </a:xfrm>
          <a:prstGeom prst="roundRect">
            <a:avLst>
              <a:gd name="adj" fmla="val 12500"/>
            </a:avLst>
          </a:prstGeom>
          <a:solidFill>
            <a:srgbClr val="F6814F"/>
          </a:solidFill>
          <a:ln/>
        </p:spPr>
      </p:sp>
      <p:sp>
        <p:nvSpPr>
          <p:cNvPr id="26" name="Text 23"/>
          <p:cNvSpPr/>
          <p:nvPr/>
        </p:nvSpPr>
        <p:spPr>
          <a:xfrm>
            <a:off x="4919472" y="323697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49824" y="329184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49824" y="349300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Multi-agent routing, progressive context, role definitions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919472" y="3749040"/>
            <a:ext cx="3657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19472" y="3749040"/>
            <a:ext cx="438912" cy="493776"/>
          </a:xfrm>
          <a:prstGeom prst="roundRect">
            <a:avLst>
              <a:gd name="adj" fmla="val 12500"/>
            </a:avLst>
          </a:prstGeom>
          <a:solidFill>
            <a:srgbClr val="1FA971"/>
          </a:solidFill>
          <a:ln/>
        </p:spPr>
      </p:sp>
      <p:sp>
        <p:nvSpPr>
          <p:cNvPr id="31" name="Text 28"/>
          <p:cNvSpPr/>
          <p:nvPr/>
        </p:nvSpPr>
        <p:spPr>
          <a:xfrm>
            <a:off x="4919472" y="374904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49824" y="380390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49824" y="40050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Unattended parallel execution, automated entropy management, self-healing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66928" y="4645152"/>
            <a:ext cx="8010144" cy="18288"/>
          </a:xfrm>
          <a:prstGeom prst="rect">
            <a:avLst/>
          </a:prstGeom>
          <a:solidFill>
            <a:srgbClr val="E2E2EC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4690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Observability stack: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1984248" y="4663440"/>
            <a:ext cx="1454993" cy="237744"/>
          </a:xfrm>
          <a:prstGeom prst="roundRect">
            <a:avLst>
              <a:gd name="adj" fmla="val 19231"/>
            </a:avLst>
          </a:prstGeom>
          <a:solidFill>
            <a:srgbClr val="F6F6FB"/>
          </a:solidFill>
          <a:ln/>
        </p:spPr>
      </p:sp>
      <p:sp>
        <p:nvSpPr>
          <p:cNvPr id="37" name="Text 34"/>
          <p:cNvSpPr/>
          <p:nvPr/>
        </p:nvSpPr>
        <p:spPr>
          <a:xfrm>
            <a:off x="2039112" y="4663440"/>
            <a:ext cx="13452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LangSmith — LangChain tracing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3603833" y="4663440"/>
            <a:ext cx="1454993" cy="237744"/>
          </a:xfrm>
          <a:prstGeom prst="roundRect">
            <a:avLst>
              <a:gd name="adj" fmla="val 19231"/>
            </a:avLst>
          </a:prstGeom>
          <a:solidFill>
            <a:srgbClr val="F6F6FB"/>
          </a:solidFill>
          <a:ln/>
        </p:spPr>
      </p:sp>
      <p:sp>
        <p:nvSpPr>
          <p:cNvPr id="39" name="Text 36"/>
          <p:cNvSpPr/>
          <p:nvPr/>
        </p:nvSpPr>
        <p:spPr>
          <a:xfrm>
            <a:off x="3658697" y="4663440"/>
            <a:ext cx="13452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Langfuse — Open-source LLM ops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223419" y="4663440"/>
            <a:ext cx="1454993" cy="237744"/>
          </a:xfrm>
          <a:prstGeom prst="roundRect">
            <a:avLst>
              <a:gd name="adj" fmla="val 19231"/>
            </a:avLst>
          </a:prstGeom>
          <a:solidFill>
            <a:srgbClr val="F6F6FB"/>
          </a:solidFill>
          <a:ln/>
        </p:spPr>
      </p:sp>
      <p:sp>
        <p:nvSpPr>
          <p:cNvPr id="41" name="Text 38"/>
          <p:cNvSpPr/>
          <p:nvPr/>
        </p:nvSpPr>
        <p:spPr>
          <a:xfrm>
            <a:off x="5278283" y="4663440"/>
            <a:ext cx="13452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Arize Phoenix — Evals + tracing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843004" y="4663440"/>
            <a:ext cx="1454993" cy="237744"/>
          </a:xfrm>
          <a:prstGeom prst="roundRect">
            <a:avLst>
              <a:gd name="adj" fmla="val 19231"/>
            </a:avLst>
          </a:prstGeom>
          <a:solidFill>
            <a:srgbClr val="F6F6FB"/>
          </a:solidFill>
          <a:ln/>
        </p:spPr>
      </p:sp>
      <p:sp>
        <p:nvSpPr>
          <p:cNvPr id="43" name="Text 40"/>
          <p:cNvSpPr/>
          <p:nvPr/>
        </p:nvSpPr>
        <p:spPr>
          <a:xfrm>
            <a:off x="6897868" y="4663440"/>
            <a:ext cx="13452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OTel GenAI — GenAI conventions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 · Benchmarks: SWE-bench, τ-bench, GAIA, WebArena, AgentBench. Maturity model: Harness Engineering PDF.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CLOUDERA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Cloudera Agent Studio 3.0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flexible low-code to high-code platform to create AI agents, tools, and multi-agent workflows — all through an intuitive UI.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3042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76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Agentic workflow builder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414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agents with tasks, tools &amp; roles; AI-assisted authoring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6471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197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Tools Catalog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843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Built-in, custom Python, and MCP server tools — all reusable across workflows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9900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Multi-LLM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127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CAI Inferencing, Azure OpenAI, Gemini, Anthropic, any OpenAI-compatible endpoint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33329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055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 &amp; debug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701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Logs, playback, and visual debugger in the Test panel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6758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484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 as endpoint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8130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Auto-generated UI; deploy workflows as APIs with one click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40187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913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Built-in observability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1559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Phoenix (Arize) tracing integrated; monitor every agent 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4361688"/>
            <a:ext cx="54864" cy="256032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342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4988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 workflows with configurable safety constraints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47488" y="1389888"/>
            <a:ext cx="3529584" cy="3291840"/>
          </a:xfrm>
          <a:prstGeom prst="roundRect">
            <a:avLst>
              <a:gd name="adj" fmla="val 2778"/>
            </a:avLst>
          </a:prstGeom>
          <a:solidFill>
            <a:srgbClr val="F6F6FB"/>
          </a:solidFill>
          <a:ln w="19050">
            <a:solidFill>
              <a:srgbClr val="E2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51790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STUDIO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920240"/>
            <a:ext cx="98755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4F4F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9202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48656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742432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35" name="Text 33"/>
          <p:cNvSpPr/>
          <p:nvPr/>
        </p:nvSpPr>
        <p:spPr>
          <a:xfrm>
            <a:off x="5742432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09360" y="1920240"/>
            <a:ext cx="987552" cy="402336"/>
          </a:xfrm>
          <a:prstGeom prst="roundRect">
            <a:avLst>
              <a:gd name="adj" fmla="val 15909"/>
            </a:avLst>
          </a:prstGeom>
          <a:solidFill>
            <a:srgbClr val="E9E9FE"/>
          </a:solidFill>
          <a:ln w="12700">
            <a:solidFill>
              <a:srgbClr val="4F4F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9202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45936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39" name="Text 37"/>
          <p:cNvSpPr/>
          <p:nvPr/>
        </p:nvSpPr>
        <p:spPr>
          <a:xfrm>
            <a:off x="6345936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39712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41" name="Text 39"/>
          <p:cNvSpPr/>
          <p:nvPr/>
        </p:nvSpPr>
        <p:spPr>
          <a:xfrm>
            <a:off x="6839712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06640" y="1920240"/>
            <a:ext cx="98755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4F4F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19202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3216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45" name="Text 43"/>
          <p:cNvSpPr/>
          <p:nvPr/>
        </p:nvSpPr>
        <p:spPr>
          <a:xfrm>
            <a:off x="7443216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936992" y="2395728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936992" y="23957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03520" y="2807208"/>
            <a:ext cx="786384" cy="310896"/>
          </a:xfrm>
          <a:prstGeom prst="roundRect">
            <a:avLst>
              <a:gd name="adj" fmla="val 17647"/>
            </a:avLst>
          </a:prstGeom>
          <a:solidFill>
            <a:srgbClr val="15154A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0" y="28072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89904" y="280720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45936" y="2807208"/>
            <a:ext cx="786384" cy="310896"/>
          </a:xfrm>
          <a:prstGeom prst="roundRect">
            <a:avLst>
              <a:gd name="adj" fmla="val 17647"/>
            </a:avLst>
          </a:prstGeom>
          <a:solidFill>
            <a:srgbClr val="15154A"/>
          </a:solidFill>
          <a:ln/>
        </p:spPr>
      </p:sp>
      <p:sp>
        <p:nvSpPr>
          <p:cNvPr id="52" name="Text 50"/>
          <p:cNvSpPr/>
          <p:nvPr/>
        </p:nvSpPr>
        <p:spPr>
          <a:xfrm>
            <a:off x="6345936" y="28072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32320" y="280720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88352" y="2807208"/>
            <a:ext cx="786384" cy="310896"/>
          </a:xfrm>
          <a:prstGeom prst="roundRect">
            <a:avLst>
              <a:gd name="adj" fmla="val 17647"/>
            </a:avLst>
          </a:prstGeom>
          <a:solidFill>
            <a:srgbClr val="15154A"/>
          </a:solidFill>
          <a:ln/>
        </p:spPr>
      </p:sp>
      <p:sp>
        <p:nvSpPr>
          <p:cNvPr id="55" name="Text 53"/>
          <p:cNvSpPr/>
          <p:nvPr/>
        </p:nvSpPr>
        <p:spPr>
          <a:xfrm>
            <a:off x="7388352" y="28072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30368" y="3310128"/>
            <a:ext cx="3163824" cy="329184"/>
          </a:xfrm>
          <a:prstGeom prst="roundRect">
            <a:avLst>
              <a:gd name="adj" fmla="val 19444"/>
            </a:avLst>
          </a:prstGeom>
          <a:solidFill>
            <a:srgbClr val="23236B">
              <a:alpha val="7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230368" y="331012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  |  Deploy  |  Observe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30368" y="3785616"/>
            <a:ext cx="1490472" cy="347472"/>
          </a:xfrm>
          <a:prstGeom prst="roundRect">
            <a:avLst>
              <a:gd name="adj" fmla="val 18421"/>
            </a:avLst>
          </a:prstGeom>
          <a:solidFill>
            <a:srgbClr val="E9E9FE"/>
          </a:solidFill>
          <a:ln/>
        </p:spPr>
      </p:sp>
      <p:sp>
        <p:nvSpPr>
          <p:cNvPr id="59" name="Text 57"/>
          <p:cNvSpPr/>
          <p:nvPr/>
        </p:nvSpPr>
        <p:spPr>
          <a:xfrm>
            <a:off x="5230368" y="3785616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F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Cloud GA (PVC 1.5.5-SP3)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85432" y="3785616"/>
            <a:ext cx="1490472" cy="347472"/>
          </a:xfrm>
          <a:prstGeom prst="roundRect">
            <a:avLst>
              <a:gd name="adj" fmla="val 18421"/>
            </a:avLst>
          </a:prstGeom>
          <a:solidFill>
            <a:srgbClr val="FFF3EE"/>
          </a:solidFill>
          <a:ln/>
        </p:spPr>
      </p:sp>
      <p:sp>
        <p:nvSpPr>
          <p:cNvPr id="61" name="Text 59"/>
          <p:cNvSpPr/>
          <p:nvPr/>
        </p:nvSpPr>
        <p:spPr>
          <a:xfrm>
            <a:off x="6885432" y="3785616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Cloud (AWS, Azure — TP)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 · Agent Studio v3.0.0-b28 (PVC) / v2.3.0-b40 (Public Cloud).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292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</a:t>
            </a:r>
            <a:pPr algn="r" indent="0" marL="0">
              <a:buNone/>
            </a:pPr>
            <a:r>
              <a:rPr lang="en-US" sz="1300" b="1" spc="3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420624"/>
            <a:ext cx="274320" cy="41148"/>
          </a:xfrm>
          <a:prstGeom prst="rect">
            <a:avLst/>
          </a:prstGeom>
          <a:solidFill>
            <a:srgbClr val="EE5A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E5A2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THEORY TO PRODUCT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Studio — The Harness Pillars in Practice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801014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438144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Harness Pillar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What it means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Studio implementation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FF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Progressive Context Architecture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only sees the context for its immediate task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Sequential workflow routing — each task receives only its declared prior-task context; input variables injected at run time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FF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Specialization &amp; Parallelism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Focused agents with restricted toolsets outperform generalists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Each agent gets its own Role, Goal, Backstory and an explicit scoped tool list — no god-mode access; Manager Agent pattern for hierarchical coordination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FF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Persistent Memory &amp; State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Memory lives outside the prompt window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Artifact Files (shared virtual filesystem), workflow input variables, and progress.json-style state persist across tasks and sessions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FF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Structured Execution &amp; Backpressure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Mechanical constraints force correct behavior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7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MCP guardrails, jailbreak tool, custom Python tools with typed parameters, CI/CD-ready deployment endpoints, and Phoenix observability for every run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526280"/>
            <a:ext cx="8010144" cy="329184"/>
          </a:xfrm>
          <a:prstGeom prst="roundRect">
            <a:avLst>
              <a:gd name="adj" fmla="val 19444"/>
            </a:avLst>
          </a:prstGeom>
          <a:solidFill>
            <a:srgbClr val="15154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5262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Studio is Cloudera's production harness for AI agents</a:t>
            </a:r>
            <a:pPr indent="0" marL="0">
              <a:buNone/>
            </a:pPr>
            <a:r>
              <a:rPr lang="en-US" sz="1050" dirty="0">
                <a:solidFill>
                  <a:srgbClr val="C9C9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— purpose-built to close the gap between the 2% deploying at scale and everyone else.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47594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©2026 Cloudera, Inc. All Rights Reserved.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55280" y="47594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B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Cloudera AI — The Agentic Era</dc:title>
  <dc:subject>PptxGenJS Presentation</dc:subject>
  <dc:creator>Cloudera</dc:creator>
  <cp:lastModifiedBy>Cloudera</cp:lastModifiedBy>
  <cp:revision>1</cp:revision>
  <dcterms:created xsi:type="dcterms:W3CDTF">2026-07-01T07:50:14Z</dcterms:created>
  <dcterms:modified xsi:type="dcterms:W3CDTF">2026-07-01T07:50:14Z</dcterms:modified>
</cp:coreProperties>
</file>