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41366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24409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90493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73535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58324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41366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07451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790493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73535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258324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41366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024409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790493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173535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258324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07451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90493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73535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41366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07451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790493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66928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Cloudera </a:t>
            </a:r>
            <a:pPr indent="0" marL="0">
              <a:buNone/>
            </a:pPr>
            <a:r>
              <a:rPr lang="en-US" sz="54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566928" y="27614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Agentic Era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latest in the AI landscape — and the anatomy of the AI agent: tools, memory, and control.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89888" y="105156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Latest in the AI Landscape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1728216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2821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89888" y="1728216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Cloudera AI — Architecture &amp; Overview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" y="2404872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40487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89888" y="240487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Studios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6928" y="3081528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815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389888" y="3081528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Hands-on Lab &amp; Demos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" y="3758184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75818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389888" y="3758184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/ 22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Latest in the AI Landscape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88920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0175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foundation models to autonomous agents — what changed, why it matters, and how to build for production.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/ 22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GENAI &amp; AGENT DEVELOPMENT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Years of Increasing Autonomy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3831336"/>
            <a:ext cx="1865376" cy="54864"/>
          </a:xfrm>
          <a:prstGeom prst="rect">
            <a:avLst/>
          </a:prstGeom>
          <a:solidFill>
            <a:srgbClr val="BFBFE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First LLM deployments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Basic cluster setup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integration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15184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3831336"/>
            <a:ext cx="1865376" cy="54864"/>
          </a:xfrm>
          <a:prstGeom prst="rect">
            <a:avLst/>
          </a:prstGeom>
          <a:solidFill>
            <a:srgbClr val="6E6EF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779776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EXPANSION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79776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RAG at scale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Multimodal (VLM)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First agents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831336"/>
            <a:ext cx="1865376" cy="54864"/>
          </a:xfrm>
          <a:prstGeom prst="rect">
            <a:avLst/>
          </a:prstGeom>
          <a:solidFill>
            <a:srgbClr val="F6814F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828032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COMPLEXITY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28032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Reasoning agents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Deep data &amp; API integration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Fine-tuning at scale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711696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3EE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3831336"/>
            <a:ext cx="1865376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76288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76288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Self-correcting loops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&amp; “computer use”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&amp; harness engineering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INCREASING AUTONOMY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35808" y="4169664"/>
            <a:ext cx="5029200" cy="54864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28" name="Shape 26"/>
          <p:cNvSpPr/>
          <p:nvPr/>
        </p:nvSpPr>
        <p:spPr>
          <a:xfrm>
            <a:off x="6510528" y="4169664"/>
            <a:ext cx="1554480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065008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/ 22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WHY 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2025–26: The Years of the Agent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agents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are autonomous software systems that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reason, plan, and act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on behalf of users — orchestrating multi-step workflows and choosing their own course of action.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7889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Highly interactive; manage complex, multi-step tasks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Apply reasoning to pick the best next action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leap from chatbot to autonomous operator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417320"/>
            <a:ext cx="1883664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809744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common customer-service issues resolved autonomously by 2029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09744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Gartner, Nov 2024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693408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1417320"/>
            <a:ext cx="1883664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6839712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~45%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839712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AI-agent market CAGR through the early 2030s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39712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Grand View / Precedence, 2025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663440" y="2788920"/>
            <a:ext cx="3913632" cy="1417320"/>
          </a:xfrm>
          <a:prstGeom prst="roundRect">
            <a:avLst>
              <a:gd name="adj" fmla="val 5806"/>
            </a:avLst>
          </a:prstGeom>
          <a:solidFill>
            <a:srgbClr val="FBF3E0"/>
          </a:solidFill>
          <a:ln/>
        </p:spPr>
      </p:sp>
      <p:sp>
        <p:nvSpPr>
          <p:cNvPr id="19" name="Shape 17"/>
          <p:cNvSpPr/>
          <p:nvPr/>
        </p:nvSpPr>
        <p:spPr>
          <a:xfrm>
            <a:off x="4663440" y="2788920"/>
            <a:ext cx="54864" cy="14173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90779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87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⚠  THE REALITY CHECK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3200400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Only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of orgs run agents at scale;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61%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are still exploring (Capgemini, 2025). Gartner expects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&gt;40%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of agentic-AI projects to be scrapped by 2027 — on cost, unclear value, and weak controls.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· Governed, enterprise-grade data is what separates the 2% from the 40%.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/ 22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&amp; ORCHESTRATION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Single-Agent to Multi-Agent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63624"/>
            <a:ext cx="1426464" cy="256032"/>
          </a:xfrm>
          <a:prstGeom prst="roundRect">
            <a:avLst>
              <a:gd name="adj" fmla="val 50000"/>
            </a:avLst>
          </a:prstGeom>
          <a:solidFill>
            <a:srgbClr val="E9E9F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6362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SINGLE AGENT · ReAct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Reason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087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465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465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 (tool)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77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254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Observe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027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Reflect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model loops — reason, call a tool, observe, self-correct — until the task is done.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1563624"/>
            <a:ext cx="1821485" cy="256032"/>
          </a:xfrm>
          <a:prstGeom prst="roundRect">
            <a:avLst>
              <a:gd name="adj" fmla="val 50000"/>
            </a:avLst>
          </a:prstGeom>
          <a:solidFill>
            <a:srgbClr val="FF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563624"/>
            <a:ext cx="1821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MULTI-AGENT · Orchestrated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Planner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235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613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613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Researcher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025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402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02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Writer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75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9552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Reviewer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Specialized agents coordinate via a planner, with feedback loops between roles.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7180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3163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Dimension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 Agent (ReAct)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Multi-Agent (Orchestrated)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Coordination cost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 allocation + inter-agent comms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Failure mode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Single-point hallucination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Cascading misunderstanding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Best for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Simple, linear toolchains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Creativity · review · negotiation · parallelism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· Patterns: ReAct (Yao 2022), Reflexion (Shinn 2023); frameworks: LangGraph, AutoGen, CrewAI.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 / 22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576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6168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1352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8944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409840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8576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23760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1352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8944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09840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8576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6168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1352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78944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09840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23760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1352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8944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8576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23760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51352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2026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Autonomy Shift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566928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Autonomous loops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13232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Self-correcting reason–act–observe cycles replace rigid, human-coded decision trees.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00984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— “USB-C for AI”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47288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Model Context Protocol standardizes tool/data connections. Adopted by OpenAI &amp; Google; donated to the Linux Foundation (Dec 2025).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35040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81344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Universal “computer use”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81344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drive GUIs, browsers &amp; keyboards like humans. Still hard: ~22% vs ~72% human on OSWorld.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13232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Curating the token budget beats prompt-tweaking. Beware context rot — more tokens ≠ better.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300984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47288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“Harm over failure” risk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447288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Stress tests (Anthropic Agentic Misalignment, Jun 2025) show models may act harmfully to avoid failure — in the lab, not yet in deployment.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35040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EE5A29">
              <a:alpha val="22000"/>
            </a:srgbClr>
          </a:solidFill>
          <a:ln w="12700">
            <a:solidFill>
              <a:srgbClr val="EE5A2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814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 The takeaway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181344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More autonomy demands more governance: observability, guardrails, and human oversight.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/ 22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ANATOMY OF AN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Three Things Make an Agent Work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the agent acts on the world — APIs, search, code execution, MCP servers. Tool design directly drives task accuracy.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00984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00984" y="1554480"/>
            <a:ext cx="2542032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83864" y="1810512"/>
            <a:ext cx="457200" cy="457200"/>
          </a:xfrm>
          <a:prstGeom prst="ellipse">
            <a:avLst/>
          </a:prstGeom>
          <a:solidFill>
            <a:srgbClr val="4F4FF5">
              <a:alpha val="15000"/>
            </a:srgbClr>
          </a:solidFill>
          <a:ln w="16510">
            <a:solidFill>
              <a:srgbClr val="4F4F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83864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83864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the agent remembers — factual, experiential, and working memory across a task and over time.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the agent decides — the reasoning loop and orchestration that turn a model into an operator.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4023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Next: a closer look at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Tools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and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 / 22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CHATBOT TO REAL AI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Tools Are Important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801014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2432304"/>
                <a:gridCol w="17373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Concept</a:t>
                      </a:r>
                      <a:endParaRPr lang="en-US" sz="9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The challenge</a:t>
                      </a:r>
                      <a:endParaRPr lang="en-US" sz="9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Best practice</a:t>
                      </a:r>
                      <a:endParaRPr lang="en-US" sz="9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Impact</a:t>
                      </a:r>
                      <a:endParaRPr lang="en-US" sz="9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Tool descriptions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Injected into the system prompt — easily overlooked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Treat as prompt engineering: clear, specific, 3–4 sentences, with examples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“The most important factor in tool performance”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Overlapping tools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Models confuse similar tools (Web vs Drive search)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Consolidate &amp; use namespace_ prefixes; scope each tool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Removes a key failure mode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Tool-use examples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JSON Schema shows structure, not when/how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Provide input_examples (now an official field)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72% → 90%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on complex params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Progressive disclosure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Preloading all tools floods context (up to 134K tokens)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Load on demand via the Tool Search Tool (GA Nov 2025)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77K → 8.7K tokens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49% → 74% accuracy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8" name="Text 5"/>
          <p:cNvSpPr/>
          <p:nvPr/>
        </p:nvSpPr>
        <p:spPr>
          <a:xfrm>
            <a:off x="694944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Programmatic tool calling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Claude calls tools from sandboxed code — fewer round-trips, ~37% fewer tokens.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00984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1" name="Text 8"/>
          <p:cNvSpPr/>
          <p:nvPr/>
        </p:nvSpPr>
        <p:spPr>
          <a:xfrm>
            <a:off x="3429000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connector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29000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Attach whole MCP servers (200+ tools) with defer_loading to protect the cache.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6035040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4" name="Text 11"/>
          <p:cNvSpPr/>
          <p:nvPr/>
        </p:nvSpPr>
        <p:spPr>
          <a:xfrm>
            <a:off x="6163056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Strict tool use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63056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strict:true guarantees calls match your schema exactly.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· Source: Anthropic Engineering — “Advanced Tool Use” &amp; “Writing Tools for Agents”.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 / 22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Overlapping Domains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Persistent, self-evolving cognitive state — integrates factual knowledge &amp; past experience over time.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15184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3" name="Shape 11"/>
          <p:cNvSpPr/>
          <p:nvPr/>
        </p:nvSpPr>
        <p:spPr>
          <a:xfrm>
            <a:off x="2779776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14" name="Text 12"/>
          <p:cNvSpPr/>
          <p:nvPr/>
        </p:nvSpPr>
        <p:spPr>
          <a:xfrm>
            <a:off x="2779776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LLM 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9776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Architectural optimizations — context-window expansion, KV compression/reuse, long-context processing.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828032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Static knowledge access — retrieving fixed information from external databases to augment responses.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11696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Shape 21"/>
          <p:cNvSpPr/>
          <p:nvPr/>
        </p:nvSpPr>
        <p:spPr>
          <a:xfrm>
            <a:off x="6876288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24" name="Text 22"/>
          <p:cNvSpPr/>
          <p:nvPr/>
        </p:nvSpPr>
        <p:spPr>
          <a:xfrm>
            <a:off x="6876288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76288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Transient resource management — the prompt, tools &amp; protocols set up for one temporary task.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 / 22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Three Functions of Memory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Factual (semantic)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Objective truths &amp; general knowledge; helps the agent understand entities. Often in the model’s parametric memory.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Experiential (episodic)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65576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Specific past events &amp; interactions; stored in a vector DB; key to personalization &amp; learning from mistakes.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99632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99632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Temporary scratchpad for the current task — intermediate reasoning; cleared or promoted to long-term after.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832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6F6FB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4930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Experiential memory comes in flavors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9808" y="38404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4048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Case-based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91056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28800" y="3840480"/>
            <a:ext cx="90708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3840480"/>
            <a:ext cx="907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Skill-based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35885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3629" y="3840480"/>
            <a:ext cx="110459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3629" y="3840480"/>
            <a:ext cx="11045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Strategy-based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078224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15968" y="384048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15968" y="38404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Hybrid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/ 22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Recent Memory Mechanisms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8010144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07792"/>
                <a:gridCol w="29077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Feature</a:t>
                      </a:r>
                      <a:endParaRPr lang="en-US" sz="11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LightMem</a:t>
                      </a:r>
                      <a:endParaRPr lang="en-US" sz="11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MemSearch</a:t>
                      </a:r>
                      <a:endParaRPr lang="en-US" sz="11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Primary goal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Token efficiency &amp; prompt compression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Data transparency &amp; easy auditing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Source of truth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Vector database (summaries)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Local .md files (full text)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Vector-DB role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Core persistent storage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Disposable search index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Update mechanism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“Sleep-time” offline summaries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Real-time file-watcher syncing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Best feature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Massive API cost/latency reduction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Git-friendly, editable memory files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/ 22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37069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9675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41613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675827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37737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3706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15644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41613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75827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7737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3706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9675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41613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675827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77379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41613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75827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37069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15644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41613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Prompt to Harness Engineering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828800" y="1417320"/>
            <a:ext cx="1673352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0" y="1417320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Prompt engineering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67912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67912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18988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84748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EE5A29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4748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Harness engineering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Tiered context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Structured layers feed the model only what it needs.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51760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98064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Specialized roles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98064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Sub-agents with focused jobs and clean contexts.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36592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Persistent memory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82896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File-based state that survives the context window.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21424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67728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· Structured execution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67728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→ execute → verify, with feedback loops &amp; guardrails.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66928" y="3867912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Build the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on which the model performs — not just the line it reads.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 / 22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03088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23825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65297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86033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82352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703088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44561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365297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86033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82352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703088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23825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365297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86033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82352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44561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365297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86033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703088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44561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365297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SUMMARY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2920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822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Five Things to Remember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66928" y="1737360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1691640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2026 is about autonomy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self-correcting loops, MCP connectivity, and “computer use”.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6928" y="2340864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29514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= Tools + Memory + Control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master all three to go from chatbot to operator.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2944368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98648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design is the highest-leverage work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clear descriptions &amp; progressive disclosure move accuracy double digits.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547872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3502152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Memory is multi-layered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factual, experiential, and working — with new transparent &amp; efficient mechanisms.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4151376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105656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Production needs governance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only 2% are at scale; the gap is data, controls, and oversight.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/ 22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15768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94436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Intelligence is no longer the bottleneck. The new paradigm: build the environment that lets agents run reliably at scale.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 / 22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CORE INSIGHT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Bottleneck Is Infrastructure, Not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FF4F1"/>
          </a:solidFill>
          <a:ln w="19050">
            <a:solidFill>
              <a:srgbClr val="EE5A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84048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EXPECTATION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Focusing purely on Model Intelligence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Power without route: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untethered capability, zero system integration. Potential trapped.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E5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MODEL_STATUS: ISOLATED_ENGINE  //  UTILIZATION: 0.0%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6592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1FBF5"/>
          </a:solidFill>
          <a:ln w="19050">
            <a:solidFill>
              <a:srgbClr val="1FA97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36592" y="1417320"/>
            <a:ext cx="3840480" cy="4572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97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REALITY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Focusing on System Infrastructure (Harness)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9472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Can.ac benchmark: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6.7% → 68.3%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by changing harness tool formats only — zero model changes.
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LangChain Terminal Bench 2.0: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30th → 5th place (+13.7 pts)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purely through environmental constraints.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 · Empirical proof: harness adjustments alone, zero model weight changes.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 / 22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Three Eras of AI Engineering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PROMPT ENGINEERING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do I ask?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Chatbot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31520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Input expression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Chain-of-Thought, Few-Shot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00984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65576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65576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do I show?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65576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2" name="Text 20"/>
          <p:cNvSpPr/>
          <p:nvPr/>
        </p:nvSpPr>
        <p:spPr>
          <a:xfrm>
            <a:off x="3465576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46557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Researcher (RAG)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65576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465576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Window overload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65576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465576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Vector search, Tool calling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E9E9FE"/>
          </a:solidFill>
          <a:ln w="25400">
            <a:solidFill>
              <a:srgbClr val="4F4FF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99632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9632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99632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does it run?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199632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19963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Autonomous Worker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99632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199632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Environmental constraints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9632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F4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199632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Execution loops, Memory, State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 / 22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Four Pillars of a Production Harness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Progressive Context Architecture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RULE: Give the agent only what it needs for this step.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Always-On: AGENTS.md, project structure, dynamic feedback loop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On-Demand: loaded by active skills &amp; sub-agent roles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Cold Storage: vector DBs, full codebase — queried via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16352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2816352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16352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Specialization &amp; Parallelism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16352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8" name="Text 16"/>
          <p:cNvSpPr/>
          <p:nvPr/>
        </p:nvSpPr>
        <p:spPr>
          <a:xfrm>
            <a:off x="2816352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RULE: Focused agents with restricted toolsets outperform generalist 'god-mode' agents.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816352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Planner Agent: read-only (Grep, Glob) → outputs structural JSON plan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Execution Agent: scoped write access, parallelizes tool calls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Review Agent: read + flag access, critiques against the JSON plan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36592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01184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2" name="Text 20"/>
          <p:cNvSpPr/>
          <p:nvPr/>
        </p:nvSpPr>
        <p:spPr>
          <a:xfrm>
            <a:off x="4901184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01184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Persistent Memory &amp; 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01184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RULE: Memory lives in the file system, not the prompt window.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01184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Boot → read git log → find next task via progress.json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Execute → record state back to progress.json after every step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Failure mode: 'one-shot' attempts lose context and declare premature victory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21424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86016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9" name="Text 27"/>
          <p:cNvSpPr/>
          <p:nvPr/>
        </p:nvSpPr>
        <p:spPr>
          <a:xfrm>
            <a:off x="6986016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86016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Structured Execution &amp; Backpressure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86016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6016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RULE: If a rule cannot be enforced mechanically, the agent will eventually deviate.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986016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Upstream: custom linters &amp; ArchUnit guide before execution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Downstream: CI/CD &amp; browser tests reject invalid outputs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Self-correction loop: reject → retry, separate thinking from execution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 / 22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Context Paradox: More Info ≠ More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011680" cy="28346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417320"/>
            <a:ext cx="3017520" cy="2834640"/>
          </a:xfrm>
          <a:prstGeom prst="rect">
            <a:avLst/>
          </a:prstGeom>
          <a:solidFill>
            <a:srgbClr val="FEF3E2"/>
          </a:solidFill>
          <a:ln/>
        </p:spPr>
      </p:sp>
      <p:sp>
        <p:nvSpPr>
          <p:cNvPr id="8" name="Shape 6"/>
          <p:cNvSpPr/>
          <p:nvPr/>
        </p:nvSpPr>
        <p:spPr>
          <a:xfrm>
            <a:off x="2578608" y="1417320"/>
            <a:ext cx="0" cy="2834640"/>
          </a:xfrm>
          <a:prstGeom prst="line">
            <a:avLst/>
          </a:prstGeom>
          <a:noFill/>
          <a:ln w="19050">
            <a:solidFill>
              <a:srgbClr val="9A9AB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94944" y="15636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A97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SMART ZONE (0–40%)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" y="1837944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Focused &amp; accurate reasoning.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 signal-to-noise.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79192" y="1563624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87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DUMB ZONE (40–100%)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79192" y="1837944"/>
            <a:ext cx="2816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Hallucinations, infinite loops, context overload.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Reasoning quality collapses.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611880"/>
            <a:ext cx="1760220" cy="-1371600"/>
          </a:xfrm>
          <a:prstGeom prst="line">
            <a:avLst/>
          </a:prstGeom>
          <a:noFill/>
          <a:ln w="31750">
            <a:solidFill>
              <a:srgbClr val="1FA9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78024" y="2240280"/>
            <a:ext cx="2926080" cy="1645920"/>
          </a:xfrm>
          <a:prstGeom prst="line">
            <a:avLst/>
          </a:prstGeom>
          <a:noFill/>
          <a:ln w="31750">
            <a:solidFill>
              <a:srgbClr val="C887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0507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 FILLED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3560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44144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4728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5312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4589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852160" y="1417320"/>
            <a:ext cx="3255264" cy="768096"/>
          </a:xfrm>
          <a:prstGeom prst="roundRect">
            <a:avLst>
              <a:gd name="adj" fmla="val 10714"/>
            </a:avLst>
          </a:prstGeom>
          <a:solidFill>
            <a:srgbClr val="FBF3E0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52160" y="1417320"/>
            <a:ext cx="3255264" cy="457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5087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87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INDUSTRY CONSENSUS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98464" y="1728216"/>
            <a:ext cx="2962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&gt; 40% degrades reasoning. Constraints must be mechanical.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52160" y="2313432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36829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Progressive loading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98464" y="255117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Search Tool, defer_loading — don't preload everything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52160" y="2825496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98464" y="288036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compaction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98464" y="306324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Summarize conversation mid-run before limits are hit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52160" y="3337560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98464" y="339242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Sub-agents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998464" y="357530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sub-agent gets a fresh, clean context window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852160" y="3849624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98464" y="390448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Structured notes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98464" y="408736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Write progress.json — memory outside the prompt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 · Source: Harness Engineering PDF; context degradation is a practitioner-community consensus, not a single paper.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 / 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EVALUATING &amp; OPERATING AGENTS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Loop Evals, Observability &amp; the Maturity Model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389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Agentic Eval Benchmarks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4114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Benchmark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What it tests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SWE-bench Verified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Real GitHub issues solved end-to-end (2294 tasks)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τ-bench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Tool-agent in retail/airline environments; pass^k metric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GAIA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Multi-step real-world web tasks; human ~92% vs AI ~15-30%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WebArena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Browser automation across e-commerce, reddit, gitlab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AgentBench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 environments: OS, DB, web, code — measures task success rate</a:t>
                      </a:r>
                      <a:endParaRPr lang="en-US" sz="8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1947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Harness Maturity Model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919472" y="1700784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19472" y="1700784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5A5A72"/>
          </a:solidFill>
          <a:ln/>
        </p:spPr>
      </p:sp>
      <p:sp>
        <p:nvSpPr>
          <p:cNvPr id="11" name="Text 8"/>
          <p:cNvSpPr/>
          <p:nvPr/>
        </p:nvSpPr>
        <p:spPr>
          <a:xfrm>
            <a:off x="4919472" y="1700784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9824" y="175564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Raw Interaction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49824" y="195681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 prompts, manual coding, zero constraints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919472" y="2212848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9472" y="2212848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C8870B"/>
          </a:solidFill>
          <a:ln/>
        </p:spPr>
      </p:sp>
      <p:sp>
        <p:nvSpPr>
          <p:cNvPr id="16" name="Text 13"/>
          <p:cNvSpPr/>
          <p:nvPr/>
        </p:nvSpPr>
        <p:spPr>
          <a:xfrm>
            <a:off x="4919472" y="2212848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49824" y="226771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Basic Constraints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49824" y="246888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AGENTS.md, basic linters, manual testing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919472" y="2724912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19472" y="2724912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4F4FF5"/>
          </a:solidFill>
          <a:ln/>
        </p:spPr>
      </p:sp>
      <p:sp>
        <p:nvSpPr>
          <p:cNvPr id="21" name="Text 18"/>
          <p:cNvSpPr/>
          <p:nvPr/>
        </p:nvSpPr>
        <p:spPr>
          <a:xfrm>
            <a:off x="4919472" y="2724912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L2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49824" y="277977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Feedback Loops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49824" y="2980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CI/CD, automated tests, progress.json state tracking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919472" y="3236976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19472" y="3236976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F6814F"/>
          </a:solidFill>
          <a:ln/>
        </p:spPr>
      </p:sp>
      <p:sp>
        <p:nvSpPr>
          <p:cNvPr id="26" name="Text 23"/>
          <p:cNvSpPr/>
          <p:nvPr/>
        </p:nvSpPr>
        <p:spPr>
          <a:xfrm>
            <a:off x="4919472" y="3236976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49824" y="329184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Specialization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49824" y="349300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Multi-agent routing, progressive context, role definitions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919472" y="3749040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19472" y="3749040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1FA971"/>
          </a:solidFill>
          <a:ln/>
        </p:spPr>
      </p:sp>
      <p:sp>
        <p:nvSpPr>
          <p:cNvPr id="31" name="Text 28"/>
          <p:cNvSpPr/>
          <p:nvPr/>
        </p:nvSpPr>
        <p:spPr>
          <a:xfrm>
            <a:off x="4919472" y="3749040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L4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49824" y="380390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49824" y="4005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Unattended parallel execution, automated entropy management, self-healing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66928" y="4645152"/>
            <a:ext cx="8010144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46908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Observability stack: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1984248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7" name="Text 34"/>
          <p:cNvSpPr/>
          <p:nvPr/>
        </p:nvSpPr>
        <p:spPr>
          <a:xfrm>
            <a:off x="2039112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LangSmith — LangChain tracing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3603833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9" name="Text 36"/>
          <p:cNvSpPr/>
          <p:nvPr/>
        </p:nvSpPr>
        <p:spPr>
          <a:xfrm>
            <a:off x="3658697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Langfuse — Open-source LLM ops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5223419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1" name="Text 38"/>
          <p:cNvSpPr/>
          <p:nvPr/>
        </p:nvSpPr>
        <p:spPr>
          <a:xfrm>
            <a:off x="5278283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Arize Phoenix — Evals + tracing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843004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3" name="Text 40"/>
          <p:cNvSpPr/>
          <p:nvPr/>
        </p:nvSpPr>
        <p:spPr>
          <a:xfrm>
            <a:off x="6897868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OTel GenAI — GenAI conventions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 · Benchmarks: SWE-bench, τ-bench, GAIA, WebArena, AgentBench. Maturity model: Harness Engineering PDF.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 / 22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CLOUDERA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Cloudera Agent Studio 3.0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flexible low-code to high-code platform to create AI agents, tools, and multi-agent workflows — all through an intuitive UI.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3042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76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Agentic workflow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Create agents with tasks, tools &amp; roles; AI-assisted authoring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" y="26471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197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Tools Catalog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7843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Built-in, custom Python, and MCP server tools — all reusable across 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9900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626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Multi-LLM support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31272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CAI Inferencing, Azure OpenAI, Gemini, Anthropic, any OpenAI-compatible endpoint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" y="33329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3055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 &amp; debug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4701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Logs, playback, and visual debugger in the Test panel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" y="36758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484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Deploy as endpoint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8130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Auto-generated UI; deploy workflows as APIs with one click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" y="40187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9913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Built-in observability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1559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Phoenix (Arize) tracing integrated; monitor every agent run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43616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3342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Guardrails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4988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Secure workflows with configurable safety constraints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47488" y="1389888"/>
            <a:ext cx="3529584" cy="3291840"/>
          </a:xfrm>
          <a:prstGeom prst="roundRect">
            <a:avLst>
              <a:gd name="adj" fmla="val 2778"/>
            </a:avLst>
          </a:prstGeom>
          <a:solidFill>
            <a:srgbClr val="F6F6FB"/>
          </a:solidFill>
          <a:ln w="19050">
            <a:solidFill>
              <a:srgbClr val="E2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30368" y="1517904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STUDIO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21208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1208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4865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524865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1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74243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5" name="Text 33"/>
          <p:cNvSpPr/>
          <p:nvPr/>
        </p:nvSpPr>
        <p:spPr>
          <a:xfrm>
            <a:off x="574243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2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30936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E9E9FE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4593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9" name="Text 37"/>
          <p:cNvSpPr/>
          <p:nvPr/>
        </p:nvSpPr>
        <p:spPr>
          <a:xfrm>
            <a:off x="634593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1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83971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683971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2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0664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0664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321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5" name="Text 43"/>
          <p:cNvSpPr/>
          <p:nvPr/>
        </p:nvSpPr>
        <p:spPr>
          <a:xfrm>
            <a:off x="744321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93699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7" name="Text 45"/>
          <p:cNvSpPr/>
          <p:nvPr/>
        </p:nvSpPr>
        <p:spPr>
          <a:xfrm>
            <a:off x="793699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2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03520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49" name="Text 47"/>
          <p:cNvSpPr/>
          <p:nvPr/>
        </p:nvSpPr>
        <p:spPr>
          <a:xfrm>
            <a:off x="5303520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Task 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89904" y="280720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45936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52" name="Text 50"/>
          <p:cNvSpPr/>
          <p:nvPr/>
        </p:nvSpPr>
        <p:spPr>
          <a:xfrm>
            <a:off x="6345936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Task 2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132320" y="280720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388352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55" name="Text 53"/>
          <p:cNvSpPr/>
          <p:nvPr/>
        </p:nvSpPr>
        <p:spPr>
          <a:xfrm>
            <a:off x="7388352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Task 3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30368" y="3310128"/>
            <a:ext cx="3163824" cy="329184"/>
          </a:xfrm>
          <a:prstGeom prst="roundRect">
            <a:avLst>
              <a:gd name="adj" fmla="val 19444"/>
            </a:avLst>
          </a:prstGeom>
          <a:solidFill>
            <a:srgbClr val="23236B">
              <a:alpha val="7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5230368" y="3310128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  |  Deploy  |  Observe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230368" y="3785616"/>
            <a:ext cx="1490472" cy="347472"/>
          </a:xfrm>
          <a:prstGeom prst="roundRect">
            <a:avLst>
              <a:gd name="adj" fmla="val 18421"/>
            </a:avLst>
          </a:prstGeom>
          <a:solidFill>
            <a:srgbClr val="E9E9FE"/>
          </a:solidFill>
          <a:ln/>
        </p:spPr>
      </p:sp>
      <p:sp>
        <p:nvSpPr>
          <p:cNvPr id="59" name="Text 57"/>
          <p:cNvSpPr/>
          <p:nvPr/>
        </p:nvSpPr>
        <p:spPr>
          <a:xfrm>
            <a:off x="5230368" y="378561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4F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 Cloud GA (PVC 1.5.5-SP3)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885432" y="3785616"/>
            <a:ext cx="1490472" cy="347472"/>
          </a:xfrm>
          <a:prstGeom prst="roundRect">
            <a:avLst>
              <a:gd name="adj" fmla="val 18421"/>
            </a:avLst>
          </a:prstGeom>
          <a:solidFill>
            <a:srgbClr val="FFF3EE"/>
          </a:solidFill>
          <a:ln/>
        </p:spPr>
      </p:sp>
      <p:sp>
        <p:nvSpPr>
          <p:cNvPr id="61" name="Text 59"/>
          <p:cNvSpPr/>
          <p:nvPr/>
        </p:nvSpPr>
        <p:spPr>
          <a:xfrm>
            <a:off x="6885432" y="378561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Public Cloud (AWS, Azure — TP)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 · Agent Studio v3.0.0-b28 (PVC) / v2.3.0-b40 (Public Cloud).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/ 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THEORY TO PRODUCT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Studio — The Harness Pillars in Practice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89888"/>
          <a:ext cx="8010144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438144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Harness Pillar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What it means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Studio implementation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Progressive Context Architecture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only sees the context for its immediate task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Sequential workflow routing — each task receives only its declared prior-task context; input variables injected at run time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Specialization &amp; Parallelism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Focused agents with restricted toolsets outperform generalists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Each agent gets its own Role, Goal, Backstory and an explicit scoped tool list — no god-mode access; Manager Agent pattern for hierarchical coordination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Persistent Memory &amp; State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Memory lives outside the prompt window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Artifact Files (shared virtual filesystem), workflow input variables, and progress.json-style state persist across tasks and sessions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Structured Execution &amp; Backpressure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Mechanical constraints force correct behavior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MCP guardrails, jailbreak tool, custom Python tools with typed parameters, CI/CD-ready deployment endpoints, and Phoenix observability for every run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526280"/>
            <a:ext cx="8010144" cy="329184"/>
          </a:xfrm>
          <a:prstGeom prst="roundRect">
            <a:avLst>
              <a:gd name="adj" fmla="val 19444"/>
            </a:avLst>
          </a:prstGeom>
          <a:solidFill>
            <a:srgbClr val="15154A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5262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Studio is Cloudera's production harness for AI agents</a:t>
            </a:r>
            <a:pPr indent="0" marL="0">
              <a:buNone/>
            </a:pPr>
            <a:r>
              <a:rPr lang="en-US" sz="1050" dirty="0">
                <a:solidFill>
                  <a:srgbClr val="C9C9E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— purpose-built to close the gap between the 2% deploying at scale and everyone else.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/ 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Cloudera AI — The Agentic Era</dc:title>
  <dc:subject>PptxGenJS Presentation</dc:subject>
  <dc:creator>Cloudera</dc:creator>
  <cp:lastModifiedBy>Cloudera</cp:lastModifiedBy>
  <cp:revision>1</cp:revision>
  <dcterms:created xsi:type="dcterms:W3CDTF">2026-06-29T07:39:55Z</dcterms:created>
  <dcterms:modified xsi:type="dcterms:W3CDTF">2026-06-29T07:39:55Z</dcterms:modified>
</cp:coreProperties>
</file>