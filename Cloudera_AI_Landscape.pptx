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41366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24409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790493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173535" y="0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258324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41366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07451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790493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173535" y="383042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258324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41366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024409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790493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173535" y="766084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258324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07451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90493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173535" y="1149126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41366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6E6EF7">
              <a:alpha val="9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07451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242E0">
              <a:alpha val="9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790493" y="1532169"/>
            <a:ext cx="323698" cy="323698"/>
          </a:xfrm>
          <a:prstGeom prst="roundRect">
            <a:avLst>
              <a:gd name="adj" fmla="val 20000"/>
            </a:avLst>
          </a:prstGeom>
          <a:solidFill>
            <a:srgbClr val="4F4FF5">
              <a:alpha val="9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indent="0" marL="0">
              <a:buNone/>
            </a:pPr>
            <a:r>
              <a:rPr lang="en-US" sz="2100" b="1" spc="4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66928" y="1828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Cloudera </a:t>
            </a:r>
            <a:pPr indent="0" marL="0">
              <a:buNone/>
            </a:pPr>
            <a:r>
              <a:rPr lang="en-US" sz="54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5400" dirty="0"/>
          </a:p>
        </p:txBody>
      </p:sp>
      <p:sp>
        <p:nvSpPr>
          <p:cNvPr id="26" name="Text 24"/>
          <p:cNvSpPr/>
          <p:nvPr/>
        </p:nvSpPr>
        <p:spPr>
          <a:xfrm>
            <a:off x="566928" y="27614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C9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Era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66928" y="36118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in the AI landscape — and the anatomy of the AI agent: tools, memory, and control.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389888" y="1051560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Latest in the AI Landscape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1728216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2821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389888" y="1728216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Cloudera AI — Architecture &amp; Overview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" y="2404872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40487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89888" y="2404872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Studios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66928" y="3081528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815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389888" y="3081528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&amp; Demos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" y="3758184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75818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389888" y="3758184"/>
            <a:ext cx="6766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7498080" cy="0"/>
          </a:xfrm>
          <a:prstGeom prst="line">
            <a:avLst/>
          </a:prstGeom>
          <a:noFill/>
          <a:ln w="12700">
            <a:solidFill>
              <a:srgbClr val="E2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6331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16509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22904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7610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10115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6331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69707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22904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7610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10115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66331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16509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22904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7610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10115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69707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22904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76102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663312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9707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22904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27432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E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9000" dirty="0"/>
          </a:p>
        </p:txBody>
      </p:sp>
      <p:sp>
        <p:nvSpPr>
          <p:cNvPr id="24" name="Text 22"/>
          <p:cNvSpPr/>
          <p:nvPr/>
        </p:nvSpPr>
        <p:spPr>
          <a:xfrm>
            <a:off x="566928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Latest in the AI Landscape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566928" y="2788920"/>
            <a:ext cx="82296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0175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foundation models to autonomous agents — what changed, why it matters, and how to build for production.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&amp; AGENT DEVELOPMENT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Years of Increasing Autonomy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3831336"/>
            <a:ext cx="1865376" cy="54864"/>
          </a:xfrm>
          <a:prstGeom prst="rect">
            <a:avLst/>
          </a:prstGeom>
          <a:solidFill>
            <a:srgbClr val="BFBFE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LLM deployments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cluster setup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15184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15184" y="3831336"/>
            <a:ext cx="1865376" cy="54864"/>
          </a:xfrm>
          <a:prstGeom prst="rect">
            <a:avLst/>
          </a:prstGeom>
          <a:solidFill>
            <a:srgbClr val="6E6EF7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779776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79776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at scale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(VLM)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831336"/>
            <a:ext cx="1865376" cy="54864"/>
          </a:xfrm>
          <a:prstGeom prst="rect">
            <a:avLst/>
          </a:prstGeom>
          <a:solidFill>
            <a:srgbClr val="F6814F"/>
          </a:solidFill>
          <a:ln/>
        </p:spPr>
      </p:sp>
      <p:sp>
        <p:nvSpPr>
          <p:cNvPr id="18" name="Text 16"/>
          <p:cNvSpPr/>
          <p:nvPr/>
        </p:nvSpPr>
        <p:spPr>
          <a:xfrm>
            <a:off x="4828032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828032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28032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agents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data &amp; API integration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at scale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711696" y="141732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3EE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11696" y="3831336"/>
            <a:ext cx="1865376" cy="54864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1581912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76288" y="209397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76288" y="2441448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loops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&amp; “computer use”</a:t>
            </a:r>
            <a:endParaRPr lang="en-US" sz="10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harness engineering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AUTONOMY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35808" y="4169664"/>
            <a:ext cx="5029200" cy="54864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28" name="Shape 26"/>
          <p:cNvSpPr/>
          <p:nvPr/>
        </p:nvSpPr>
        <p:spPr>
          <a:xfrm>
            <a:off x="6510528" y="4169664"/>
            <a:ext cx="1554480" cy="54864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9" name="Text 27"/>
          <p:cNvSpPr/>
          <p:nvPr/>
        </p:nvSpPr>
        <p:spPr>
          <a:xfrm>
            <a:off x="8065008" y="4050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2025–26: The Years of the Agent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autonomous software systems that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plan, and act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behalf of users — orchestrating multi-step workflows and choosing their own course of action.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78892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interactive; manage complex, multi-step tasks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reasoning to pick the best next action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 from chatbot to autonomous operator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417320"/>
            <a:ext cx="1883664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157276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809744" y="2103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common customer-service issues resolved autonomously by 2029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09744" y="250545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6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Gartner, Nov 2024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693408" y="1417320"/>
            <a:ext cx="18836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1417320"/>
            <a:ext cx="1883664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5" name="Text 13"/>
          <p:cNvSpPr/>
          <p:nvPr/>
        </p:nvSpPr>
        <p:spPr>
          <a:xfrm>
            <a:off x="6839712" y="157276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839712" y="21031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AI-agent market CAGR through the early 2030s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839712" y="2505456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6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View / Precedence, 2025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663440" y="2788920"/>
            <a:ext cx="3913632" cy="1417320"/>
          </a:xfrm>
          <a:prstGeom prst="roundRect">
            <a:avLst>
              <a:gd name="adj" fmla="val 5806"/>
            </a:avLst>
          </a:prstGeom>
          <a:solidFill>
            <a:srgbClr val="FBF3E0"/>
          </a:solidFill>
          <a:ln/>
        </p:spPr>
      </p:sp>
      <p:sp>
        <p:nvSpPr>
          <p:cNvPr id="19" name="Shape 17"/>
          <p:cNvSpPr/>
          <p:nvPr/>
        </p:nvSpPr>
        <p:spPr>
          <a:xfrm>
            <a:off x="4663440" y="2788920"/>
            <a:ext cx="54864" cy="1417320"/>
          </a:xfrm>
          <a:prstGeom prst="rect">
            <a:avLst/>
          </a:prstGeom>
          <a:solidFill>
            <a:srgbClr val="C8870B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90779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REALITY CHECK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3200400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orgs run agents at scale;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still exploring (Capgemini, 2025). Gartner expects </a:t>
            </a:r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&gt;40%</a:t>
            </a:r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agentic-AI projects to be scrapped by 2027 — on cost, unclear value, and weak controls.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· Governed, enterprise-grade data is what separates the 2% from the 40%.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ORCHESTRATION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Single-Agent to Multi-Agent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895344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63624"/>
            <a:ext cx="1426464" cy="256032"/>
          </a:xfrm>
          <a:prstGeom prst="roundRect">
            <a:avLst>
              <a:gd name="adj" fmla="val 50000"/>
            </a:avLst>
          </a:prstGeom>
          <a:solidFill>
            <a:srgbClr val="E9E9F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6362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· ReAct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508760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46504" y="19659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3EE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46504" y="196596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(tool)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87752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25496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02736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loops — reason, call a tool, observe, self-correct — until the task is done.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81728" y="1417320"/>
            <a:ext cx="3895344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1563624"/>
            <a:ext cx="1821485" cy="256032"/>
          </a:xfrm>
          <a:prstGeom prst="roundRect">
            <a:avLst>
              <a:gd name="adj" fmla="val 50000"/>
            </a:avLst>
          </a:prstGeom>
          <a:solidFill>
            <a:srgbClr val="FF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1563624"/>
            <a:ext cx="1821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· Orchestrated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3EE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623560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861304" y="19659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61304" y="196596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02552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40296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0296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7536" y="196596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955280" y="196596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0" y="19659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46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coordinate via a planner, with feedback loops between roles.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7180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743200"/>
                <a:gridCol w="3163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Agent (ReAct)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(Orchestrated)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allocation + inter-agent comms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Single-point hallucination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Cascading misunderstanding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linear toolchains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Creativity · review · negotiation · parallelism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· Patterns: ReAct (Yao 2022), Reflexion (Shinn 2023); frameworks: LangGraph, AutoGen, CrewAI.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576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6168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1352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789441" y="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409840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8576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23760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1352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89441" y="27592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409840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8576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96168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1352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789441" y="551840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09840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23760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51352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789441" y="82776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8576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6E6EF7">
              <a:alpha val="5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23760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242E0">
              <a:alpha val="5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513521" y="1103681"/>
            <a:ext cx="233172" cy="233172"/>
          </a:xfrm>
          <a:prstGeom prst="roundRect">
            <a:avLst>
              <a:gd name="adj" fmla="val 20000"/>
            </a:avLst>
          </a:prstGeom>
          <a:solidFill>
            <a:srgbClr val="4F4FF5">
              <a:alpha val="5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Autonomy Shift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566928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loops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13232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reason–act–observe cycles replace rigid, human-coded decision trees.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00984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— “USB-C for AI”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47288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standardizes tool/data connections. Adopted by OpenAI &amp; Google; donated to the Linux Foundation (Dec 2025).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35040" y="137160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81344" y="149047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“computer use”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181344" y="182880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drive GUIs, browsers &amp; keyboards like humans. Still hard: ~22% vs ~72% human on OSWorld.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13232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Curating the token budget beats prompt-tweaking. Beware context rot — more tokens ≠ better.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300984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47288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“Harm over failure” risk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447288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 (Anthropic Agentic Misalignment, Jun 2025) show models may act harmfully to avoid failure — in the lab, not yet in deployment.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35040" y="2834640"/>
            <a:ext cx="2542032" cy="1298448"/>
          </a:xfrm>
          <a:prstGeom prst="roundRect">
            <a:avLst>
              <a:gd name="adj" fmla="val 5634"/>
            </a:avLst>
          </a:prstGeom>
          <a:solidFill>
            <a:srgbClr val="EE5A29">
              <a:alpha val="22000"/>
            </a:srgbClr>
          </a:solidFill>
          <a:ln w="12700">
            <a:solidFill>
              <a:srgbClr val="EE5A2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2953512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68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takeaway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181344" y="3291840"/>
            <a:ext cx="2249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autonomy demands more governance: observability, guardrails, and human oversight.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AN AGENT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Make an Agent Work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554480"/>
            <a:ext cx="2542032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10512"/>
            <a:ext cx="457200" cy="457200"/>
          </a:xfrm>
          <a:prstGeom prst="ellipse">
            <a:avLst/>
          </a:prstGeom>
          <a:solidFill>
            <a:srgbClr val="EE5A29">
              <a:alpha val="15000"/>
            </a:srgbClr>
          </a:solidFill>
          <a:ln w="16510">
            <a:solidFill>
              <a:srgbClr val="EE5A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9808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acts on the world — APIs, search, code execution, MCP servers. Tool design directly drives task accuracy.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00984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00984" y="1554480"/>
            <a:ext cx="2542032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83864" y="1810512"/>
            <a:ext cx="457200" cy="457200"/>
          </a:xfrm>
          <a:prstGeom prst="ellipse">
            <a:avLst/>
          </a:prstGeom>
          <a:solidFill>
            <a:srgbClr val="4F4FF5">
              <a:alpha val="15000"/>
            </a:srgbClr>
          </a:solidFill>
          <a:ln w="16510">
            <a:solidFill>
              <a:srgbClr val="4F4F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83864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83864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83864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remembers — factual, experiential, and working memory across a task and over time.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554480"/>
            <a:ext cx="254203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554480"/>
            <a:ext cx="2542032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0" y="1810512"/>
            <a:ext cx="457200" cy="457200"/>
          </a:xfrm>
          <a:prstGeom prst="ellipse">
            <a:avLst/>
          </a:prstGeom>
          <a:solidFill>
            <a:srgbClr val="EE5A29">
              <a:alpha val="15000"/>
            </a:srgbClr>
          </a:solidFill>
          <a:ln w="16510">
            <a:solidFill>
              <a:srgbClr val="EE5A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239572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17920" y="28346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decides — the reasoning loop and orchestration that turn a model into an operator.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4023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 closer look at </a:t>
            </a:r>
            <a:pPr algn="ctr" indent="0" marL="0">
              <a:buNone/>
            </a:pPr>
            <a:r>
              <a:rPr lang="en-US" sz="12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ctr" indent="0" marL="0">
              <a:buNone/>
            </a:pPr>
            <a:r>
              <a:rPr lang="en-US" sz="12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pPr algn="ctr" indent="0" marL="0">
              <a:buNone/>
            </a:pPr>
            <a:r>
              <a:rPr lang="en-US" sz="12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CHATBOT TO REAL AI AGENT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Are Important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801014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286000"/>
                <a:gridCol w="2432304"/>
                <a:gridCol w="17373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challenge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practice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5A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descriptions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into the system prompt — easily overlooked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 as prompt engineering: clear, specific, 3–4 sentences, with examples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“The most important factor in tool performance”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Overlapping tools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confuse similar tools (Web vs Drive search)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 &amp; use namespace_ prefixes; scope each tool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Removes a key failure mode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Tool-use examples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Schema shows structure, not when/how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input_examples (now an official field)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5A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 → 90%
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complex params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disclosure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Preloading all tools floods context (up to 134K tokens)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on demand via the Tool Search Tool (GA Nov 2025)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5A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77K → 8.7K tokens
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→ 74% accuracy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8" name="Text 5"/>
          <p:cNvSpPr/>
          <p:nvPr/>
        </p:nvSpPr>
        <p:spPr>
          <a:xfrm>
            <a:off x="694944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Programmatic tool calling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calls tools from sandboxed code — fewer round-trips, ~37% fewer tokens.</a:t>
            </a:r>
            <a:endParaRPr lang="en-US" sz="830" dirty="0"/>
          </a:p>
        </p:txBody>
      </p:sp>
      <p:sp>
        <p:nvSpPr>
          <p:cNvPr id="10" name="Shape 7"/>
          <p:cNvSpPr/>
          <p:nvPr/>
        </p:nvSpPr>
        <p:spPr>
          <a:xfrm>
            <a:off x="3300984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11" name="Text 8"/>
          <p:cNvSpPr/>
          <p:nvPr/>
        </p:nvSpPr>
        <p:spPr>
          <a:xfrm>
            <a:off x="3429000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connector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429000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whole MCP servers (200+ tools) with defer_loading to protect the cache.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6035040" y="3950208"/>
            <a:ext cx="2542032" cy="713232"/>
          </a:xfrm>
          <a:prstGeom prst="roundRect">
            <a:avLst>
              <a:gd name="adj" fmla="val 8974"/>
            </a:avLst>
          </a:prstGeom>
          <a:solidFill>
            <a:srgbClr val="F6F6FB"/>
          </a:solidFill>
          <a:ln/>
        </p:spPr>
      </p:sp>
      <p:sp>
        <p:nvSpPr>
          <p:cNvPr id="14" name="Text 11"/>
          <p:cNvSpPr/>
          <p:nvPr/>
        </p:nvSpPr>
        <p:spPr>
          <a:xfrm>
            <a:off x="6163056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tool use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63056" y="42611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83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strict:true guarantees calls match your schema exactly.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· Source: Anthropic Engineering — “Advanced Tool Use” &amp; “Writing Tools for Agents”.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Overlapping Domains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554480"/>
            <a:ext cx="1865376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792224"/>
            <a:ext cx="310896" cy="310896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Persistent, self-evolving cognitive state — integrates factual knowledge &amp; past experience over time.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15184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15184" y="1554480"/>
            <a:ext cx="1865376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3" name="Shape 11"/>
          <p:cNvSpPr/>
          <p:nvPr/>
        </p:nvSpPr>
        <p:spPr>
          <a:xfrm>
            <a:off x="2779776" y="1792224"/>
            <a:ext cx="310896" cy="310896"/>
          </a:xfrm>
          <a:prstGeom prst="ellipse">
            <a:avLst/>
          </a:prstGeom>
          <a:solidFill>
            <a:srgbClr val="EE5A29"/>
          </a:solidFill>
          <a:ln/>
        </p:spPr>
      </p:sp>
      <p:sp>
        <p:nvSpPr>
          <p:cNvPr id="14" name="Text 12"/>
          <p:cNvSpPr/>
          <p:nvPr/>
        </p:nvSpPr>
        <p:spPr>
          <a:xfrm>
            <a:off x="2779776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779776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optimizations — context-window expansion, KV compression/reuse, long-context processing.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554480"/>
            <a:ext cx="1865376" cy="45720"/>
          </a:xfrm>
          <a:prstGeom prst="rect">
            <a:avLst/>
          </a:prstGeom>
          <a:solidFill>
            <a:srgbClr val="4F4F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828032" y="1792224"/>
            <a:ext cx="310896" cy="310896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knowledge access — retrieving fixed information from external databases to augment responses.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11696" y="1554480"/>
            <a:ext cx="1865376" cy="246888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11696" y="1554480"/>
            <a:ext cx="1865376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Shape 21"/>
          <p:cNvSpPr/>
          <p:nvPr/>
        </p:nvSpPr>
        <p:spPr>
          <a:xfrm>
            <a:off x="6876288" y="1792224"/>
            <a:ext cx="310896" cy="310896"/>
          </a:xfrm>
          <a:prstGeom prst="ellipse">
            <a:avLst/>
          </a:prstGeom>
          <a:solidFill>
            <a:srgbClr val="EE5A29"/>
          </a:solidFill>
          <a:ln/>
        </p:spPr>
      </p:sp>
      <p:sp>
        <p:nvSpPr>
          <p:cNvPr id="24" name="Text 22"/>
          <p:cNvSpPr/>
          <p:nvPr/>
        </p:nvSpPr>
        <p:spPr>
          <a:xfrm>
            <a:off x="6876288" y="219456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76288" y="2852928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resource management — the prompt, tools &amp; protocols set up for one temporary task.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Functions of Memory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 (semantic)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truths &amp; general knowledge; helps the agent understand entities. Often in the model’s parametric memory.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00984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65576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(episodic)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65576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past events &amp; interactions; stored in a vector DB; key to personalization &amp; learning from mistakes.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508760"/>
            <a:ext cx="254203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99632" y="1655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99632" y="2020824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scratchpad for the current task — intermediate reasoning; cleared or promoted to long-term after.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832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6F6FB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4930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 memory comes in flavors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9808" y="38404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4048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Case-based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91056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28800" y="3840480"/>
            <a:ext cx="907085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3840480"/>
            <a:ext cx="907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Skill-based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35885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73629" y="3840480"/>
            <a:ext cx="1104595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3629" y="3840480"/>
            <a:ext cx="11045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Strategy-based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078224" y="3840480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15968" y="3840480"/>
            <a:ext cx="7772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E2E2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15968" y="38404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Memory Mechanisms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8010144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07792"/>
                <a:gridCol w="29077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efficiency &amp; prompt compression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transparency &amp; easy auditing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truth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 (summaries)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.md files (full 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Vector-DB 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persistent 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Disposable search index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mechanism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“Sleep-time” offline summaries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file-watcher syncing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feature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Massive API cost/latency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Git-friendly, editable memory files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34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37069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96758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416138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675827" y="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377379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637069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156448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416138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675827" y="259690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377379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637069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896758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416138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675827" y="51937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377379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416138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675827" y="779069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7637069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6E6EF7">
              <a:alpha val="5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156448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242E0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8416138" y="1038758"/>
            <a:ext cx="219456" cy="219456"/>
          </a:xfrm>
          <a:prstGeom prst="roundRect">
            <a:avLst>
              <a:gd name="adj" fmla="val 20000"/>
            </a:avLst>
          </a:prstGeom>
          <a:solidFill>
            <a:srgbClr val="4F4FF5">
              <a:alpha val="5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EVOLUTION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Prompt to Harness Engineering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1828800" y="1417320"/>
            <a:ext cx="1673352" cy="402336"/>
          </a:xfrm>
          <a:prstGeom prst="roundRect">
            <a:avLst>
              <a:gd name="adj" fmla="val 15909"/>
            </a:avLst>
          </a:prstGeom>
          <a:solidFill>
            <a:srgbClr val="23236B">
              <a:alpha val="70000"/>
            </a:srgbClr>
          </a:solidFill>
          <a:ln w="15240">
            <a:solidFill>
              <a:srgbClr val="3A3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28800" y="1417320"/>
            <a:ext cx="1673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2152" y="1417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67912" y="1417320"/>
            <a:ext cx="1751076" cy="402336"/>
          </a:xfrm>
          <a:prstGeom prst="roundRect">
            <a:avLst>
              <a:gd name="adj" fmla="val 15909"/>
            </a:avLst>
          </a:prstGeom>
          <a:solidFill>
            <a:srgbClr val="23236B">
              <a:alpha val="70000"/>
            </a:srgbClr>
          </a:solidFill>
          <a:ln w="15240">
            <a:solidFill>
              <a:srgbClr val="3A3A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67912" y="1417320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18988" y="1417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984748" y="1417320"/>
            <a:ext cx="1751076" cy="402336"/>
          </a:xfrm>
          <a:prstGeom prst="roundRect">
            <a:avLst>
              <a:gd name="adj" fmla="val 15909"/>
            </a:avLst>
          </a:prstGeom>
          <a:solidFill>
            <a:srgbClr val="EE5A29"/>
          </a:solidFill>
          <a:ln w="15240">
            <a:solidFill>
              <a:srgbClr val="EE5A2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84748" y="1417320"/>
            <a:ext cx="1751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Tiered context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layers feed the model only what it needs.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651760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98064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Specialized roles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798064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with focused jobs and clean contexts.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36592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Persistent memory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882896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File-based state that survives the context window.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21424" y="2148840"/>
            <a:ext cx="1901952" cy="1554480"/>
          </a:xfrm>
          <a:prstGeom prst="roundRect">
            <a:avLst>
              <a:gd name="adj" fmla="val 4706"/>
            </a:avLst>
          </a:prstGeom>
          <a:solidFill>
            <a:srgbClr val="23236B">
              <a:alpha val="60000"/>
            </a:srgbClr>
          </a:solidFill>
          <a:ln w="12700">
            <a:solidFill>
              <a:srgbClr val="3A3A7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67728" y="229514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Structured execution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967728" y="2752344"/>
            <a:ext cx="1609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→ verify, with feedback loops &amp; guardrails.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66928" y="3867912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pPr algn="ctr" indent="0" marL="0">
              <a:buNone/>
            </a:pPr>
            <a:r>
              <a:rPr lang="en-US" sz="12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which the model performs — not just the line it reads.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03088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23825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365297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586033" y="45720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82352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703088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44561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365297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586033" y="266456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82352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703088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23825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365297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86033" y="487192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82352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44561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365297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586033" y="707928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703088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6E6EF7">
              <a:alpha val="5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44561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242E0">
              <a:alpha val="5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365297" y="928665"/>
            <a:ext cx="186538" cy="186538"/>
          </a:xfrm>
          <a:prstGeom prst="roundRect">
            <a:avLst>
              <a:gd name="adj" fmla="val 20000"/>
            </a:avLst>
          </a:prstGeom>
          <a:solidFill>
            <a:srgbClr val="4F4FF5">
              <a:alpha val="5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11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2920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822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Things to Remember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566928" y="1737360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1691640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is about autonomy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 loops, MCP connectivity, and “computer use”.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6928" y="2340864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229514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= Tools + Memory + Control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all three to go from chatbot to operator.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2944368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98648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design is the highest-leverage work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descriptions &amp; progressive disclosure move accuracy double digits.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547872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3502152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multi-layered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factual, experiential, and working — with new transparent &amp; efficient mechanisms.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4151376"/>
            <a:ext cx="91440" cy="3840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105656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needs governance —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2% are at scale; the gap is data, controls, and oversight.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6331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16509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22904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676102" y="137160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410115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66331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169707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8422904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676102" y="390357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410115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66331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916509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22904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76102" y="643555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10115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169707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422904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676102" y="896752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7663312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6E6EF7">
              <a:alpha val="7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8169707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242E0">
              <a:alpha val="7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8422904" y="1149949"/>
            <a:ext cx="213970" cy="213970"/>
          </a:xfrm>
          <a:prstGeom prst="roundRect">
            <a:avLst>
              <a:gd name="adj" fmla="val 20000"/>
            </a:avLst>
          </a:prstGeom>
          <a:solidFill>
            <a:srgbClr val="4F4FF5">
              <a:alpha val="7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27432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E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9000" dirty="0"/>
          </a:p>
        </p:txBody>
      </p:sp>
      <p:sp>
        <p:nvSpPr>
          <p:cNvPr id="24" name="Text 22"/>
          <p:cNvSpPr/>
          <p:nvPr/>
        </p:nvSpPr>
        <p:spPr>
          <a:xfrm>
            <a:off x="566928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25" name="Shape 23"/>
          <p:cNvSpPr/>
          <p:nvPr/>
        </p:nvSpPr>
        <p:spPr>
          <a:xfrm>
            <a:off x="566928" y="2715768"/>
            <a:ext cx="82296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294436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is no longer the bottleneck. The new paradigm: build the environment that lets agents run reliably at scale.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INSIGHT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Is Infrastructure, Not Intelligence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840480" cy="2423160"/>
          </a:xfrm>
          <a:prstGeom prst="roundRect">
            <a:avLst>
              <a:gd name="adj" fmla="val 3396"/>
            </a:avLst>
          </a:prstGeom>
          <a:solidFill>
            <a:srgbClr val="FFF4F1"/>
          </a:solidFill>
          <a:ln w="19050">
            <a:solidFill>
              <a:srgbClr val="EE5A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840480" cy="45720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5636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EXPECTATION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18196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Focusing purely on Model Intelligence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1671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without route: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untethered capability, zero system integration. Potential trapped.
</a:t>
            </a:r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E5A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MODEL_STATUS: ISOLATED_ENGINE  //  UTILIZATION: 0.0%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6592" y="1417320"/>
            <a:ext cx="3840480" cy="2423160"/>
          </a:xfrm>
          <a:prstGeom prst="roundRect">
            <a:avLst>
              <a:gd name="adj" fmla="val 3396"/>
            </a:avLst>
          </a:prstGeom>
          <a:solidFill>
            <a:srgbClr val="F1FBF5"/>
          </a:solidFill>
          <a:ln w="19050">
            <a:solidFill>
              <a:srgbClr val="1FA97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36592" y="1417320"/>
            <a:ext cx="3840480" cy="45720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156362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196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Focusing on System Infrastructure (Harness)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19472" y="21671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Can.ac benchmark: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6.7% → 68.3%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changing harness tool formats only — zero model changes.
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Terminal Bench 2.0: </a:t>
            </a:r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30th → 5th place (+13.7 pts)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purely through environmental constraints.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Empirical proof: harness adjustments alone, zero model weight changes.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EVOLUTION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Eras of AI Engineering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A5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I ask?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3152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31520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expression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1520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Chain-of-Thought, Few-Shot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00984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65576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A5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65576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show?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65576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22" name="Text 20"/>
          <p:cNvSpPr/>
          <p:nvPr/>
        </p:nvSpPr>
        <p:spPr>
          <a:xfrm>
            <a:off x="3465576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465576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Researcher (RAG)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65576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465576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overload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65576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465576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search, Tool calling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417320"/>
            <a:ext cx="2542032" cy="3090672"/>
          </a:xfrm>
          <a:prstGeom prst="roundRect">
            <a:avLst>
              <a:gd name="adj" fmla="val 3237"/>
            </a:avLst>
          </a:prstGeom>
          <a:solidFill>
            <a:srgbClr val="E9E9FE"/>
          </a:solidFill>
          <a:ln w="25400">
            <a:solidFill>
              <a:srgbClr val="4F4FF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199632" y="154533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99632" y="198424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QUESTION: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99632" y="217627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run?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199632" y="2532888"/>
            <a:ext cx="221284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260604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METAPHOR: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199632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Worker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99632" y="3136392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BOTTLENECK: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199632" y="3319272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constraints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9632" y="3666744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F4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THE FIX: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199632" y="384962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loops, Memory, State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Pillars of a Production Harness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Context Architecture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Give the agent only what it needs for this step.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Always-On: AGENTS.md, project structure, dynamic feedback loop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On-Demand: loaded by active skills &amp; sub-agent roles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Cold Storage: vector DBs, full codebase — queried via tools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651760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16352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15" name="Text 13"/>
          <p:cNvSpPr/>
          <p:nvPr/>
        </p:nvSpPr>
        <p:spPr>
          <a:xfrm>
            <a:off x="2816352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16352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Specialization &amp; Parallelism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16352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18" name="Text 16"/>
          <p:cNvSpPr/>
          <p:nvPr/>
        </p:nvSpPr>
        <p:spPr>
          <a:xfrm>
            <a:off x="2816352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Focused agents with restricted toolsets outperform generalist 'god-mode' agents.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816352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Agent: read-only (Grep, Glob) → outputs structural JSON plan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Agent: scoped write access, parallelizes tool calls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Agent: read + flag access, critiques against the JSON plan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36592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01184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22" name="Text 20"/>
          <p:cNvSpPr/>
          <p:nvPr/>
        </p:nvSpPr>
        <p:spPr>
          <a:xfrm>
            <a:off x="4901184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01184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Memory &amp; 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01184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Memory lives in the file system, not the prompt window.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901184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→ read git log → find next task via progress.json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→ record state back to progress.json after every step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'one-shot' attempts lose context and declare premature victory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21424" y="1389888"/>
            <a:ext cx="1901952" cy="3154680"/>
          </a:xfrm>
          <a:prstGeom prst="roundRect">
            <a:avLst>
              <a:gd name="adj" fmla="val 4327"/>
            </a:avLst>
          </a:prstGeom>
          <a:solidFill>
            <a:srgbClr val="F6F6FB"/>
          </a:solidFill>
          <a:ln/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86016" y="1554480"/>
            <a:ext cx="365760" cy="365760"/>
          </a:xfrm>
          <a:prstGeom prst="ellipse">
            <a:avLst/>
          </a:prstGeom>
          <a:solidFill>
            <a:srgbClr val="4F4FF5"/>
          </a:solidFill>
          <a:ln/>
        </p:spPr>
      </p:sp>
      <p:sp>
        <p:nvSpPr>
          <p:cNvPr id="29" name="Text 27"/>
          <p:cNvSpPr/>
          <p:nvPr/>
        </p:nvSpPr>
        <p:spPr>
          <a:xfrm>
            <a:off x="6986016" y="1554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86016" y="20299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11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Execution &amp; Backpressure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86016" y="2578608"/>
            <a:ext cx="1572768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2" name="Text 30"/>
          <p:cNvSpPr/>
          <p:nvPr/>
        </p:nvSpPr>
        <p:spPr>
          <a:xfrm>
            <a:off x="6986016" y="2642616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a rule cannot be enforced mechanically, the agent will eventually deviate.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986016" y="3236976"/>
            <a:ext cx="1572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Upstream: custom linters &amp; ArchUnit guide before execution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Downstream: CI/CD &amp; browser tests reject invalid outputs</a:t>
            </a:r>
            <a:endParaRPr lang="en-US" sz="8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 loop: reject → retry, separate thinking from execution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Paradox: More Info ≠ More Intelligence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2011680" cy="28346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7" name="Shape 5"/>
          <p:cNvSpPr/>
          <p:nvPr/>
        </p:nvSpPr>
        <p:spPr>
          <a:xfrm>
            <a:off x="2578608" y="1417320"/>
            <a:ext cx="3017520" cy="2834640"/>
          </a:xfrm>
          <a:prstGeom prst="rect">
            <a:avLst/>
          </a:prstGeom>
          <a:solidFill>
            <a:srgbClr val="FEF3E2"/>
          </a:solidFill>
          <a:ln/>
        </p:spPr>
      </p:sp>
      <p:sp>
        <p:nvSpPr>
          <p:cNvPr id="8" name="Shape 6"/>
          <p:cNvSpPr/>
          <p:nvPr/>
        </p:nvSpPr>
        <p:spPr>
          <a:xfrm>
            <a:off x="2578608" y="1417320"/>
            <a:ext cx="0" cy="2834640"/>
          </a:xfrm>
          <a:prstGeom prst="line">
            <a:avLst/>
          </a:prstGeom>
          <a:noFill/>
          <a:ln w="19050">
            <a:solidFill>
              <a:srgbClr val="9A9AB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94944" y="1563624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SMART ZONE (0–40%)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" y="1837944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&amp; accurate reasoning.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signal-to-noise.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79192" y="1563624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DUMB ZONE (40–100%)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79192" y="1837944"/>
            <a:ext cx="2816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Hallucinations, infinite loops, context overload.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quality collapses.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611880"/>
            <a:ext cx="1760220" cy="-1371600"/>
          </a:xfrm>
          <a:prstGeom prst="line">
            <a:avLst/>
          </a:prstGeom>
          <a:noFill/>
          <a:ln w="31750">
            <a:solidFill>
              <a:srgbClr val="1FA97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78024" y="2240280"/>
            <a:ext cx="2926080" cy="1645920"/>
          </a:xfrm>
          <a:prstGeom prst="line">
            <a:avLst/>
          </a:prstGeom>
          <a:noFill/>
          <a:ln w="31750">
            <a:solidFill>
              <a:srgbClr val="C887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0507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 FILLED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976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3560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44144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44728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60%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5312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458968" y="3867912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A5A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852160" y="1417320"/>
            <a:ext cx="3255264" cy="768096"/>
          </a:xfrm>
          <a:prstGeom prst="roundRect">
            <a:avLst>
              <a:gd name="adj" fmla="val 10714"/>
            </a:avLst>
          </a:prstGeom>
          <a:solidFill>
            <a:srgbClr val="FBF3E0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52160" y="1417320"/>
            <a:ext cx="3255264" cy="45720"/>
          </a:xfrm>
          <a:prstGeom prst="rect">
            <a:avLst/>
          </a:prstGeom>
          <a:solidFill>
            <a:srgbClr val="C8870B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1508760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87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CONSENSUS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98464" y="1728216"/>
            <a:ext cx="29626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7000"/>
              </a:lnSpc>
              <a:buNone/>
            </a:pPr>
            <a:r>
              <a:rPr lang="en-US" sz="9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&gt; 40% degrades reasoning. Constraints must be mechanical.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52160" y="2313432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98464" y="2368296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loading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98464" y="2551176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Search Tool, defer_loading — don't preload everything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852160" y="2825496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98464" y="288036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compaction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98464" y="306324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conversation mid-run before limits are hit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852160" y="3337560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98464" y="3392424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998464" y="3575304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sub-agent gets a fresh, clean context window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852160" y="3849624"/>
            <a:ext cx="3255264" cy="448056"/>
          </a:xfrm>
          <a:prstGeom prst="roundRect">
            <a:avLst>
              <a:gd name="adj" fmla="val 18367"/>
            </a:avLst>
          </a:prstGeom>
          <a:solidFill>
            <a:srgbClr val="F6F6FB"/>
          </a:solidFill>
          <a:ln w="12700">
            <a:solidFill>
              <a:srgbClr val="E2E2E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98464" y="3904488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notes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998464" y="4087368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progress.json — memory outside the prompt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Source: Harness Engineering PDF; context degradation is a practitioner-community consensus, not a single paper.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&amp; OPERATING AGENTS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Evals, Observability &amp; the Maturity Model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3898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Agentic Eval Benchmarks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00784"/>
          <a:ext cx="4114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tests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F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SWE-bench Verified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GitHub issues solved end-to-end (2294 tasks)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τ-bench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Tool-agent in retail/airline environments; pass^k 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 real-world web tasks; human ~92% vs AI ~15-30%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WebArena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automation across e-commerce, reddit, gitlab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515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AgentBench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environments: OS, DB, web, code — measures task success rate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91947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Maturity Model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919472" y="1700784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19472" y="1700784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5A5A72"/>
          </a:solidFill>
          <a:ln/>
        </p:spPr>
      </p:sp>
      <p:sp>
        <p:nvSpPr>
          <p:cNvPr id="11" name="Text 8"/>
          <p:cNvSpPr/>
          <p:nvPr/>
        </p:nvSpPr>
        <p:spPr>
          <a:xfrm>
            <a:off x="4919472" y="1700784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9824" y="1755648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Interaction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49824" y="195681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prompts, manual coding, zero constraints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919472" y="2212848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19472" y="2212848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C8870B"/>
          </a:solidFill>
          <a:ln/>
        </p:spPr>
      </p:sp>
      <p:sp>
        <p:nvSpPr>
          <p:cNvPr id="16" name="Text 13"/>
          <p:cNvSpPr/>
          <p:nvPr/>
        </p:nvSpPr>
        <p:spPr>
          <a:xfrm>
            <a:off x="4919472" y="2212848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49824" y="226771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Constraints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49824" y="2468880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AGENTS.md, basic linters, manual testing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919472" y="2724912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919472" y="2724912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4F4FF5"/>
          </a:solidFill>
          <a:ln/>
        </p:spPr>
      </p:sp>
      <p:sp>
        <p:nvSpPr>
          <p:cNvPr id="21" name="Text 18"/>
          <p:cNvSpPr/>
          <p:nvPr/>
        </p:nvSpPr>
        <p:spPr>
          <a:xfrm>
            <a:off x="4919472" y="2724912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49824" y="277977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Loops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49824" y="2980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automated tests, progress.json state tracking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919472" y="3236976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19472" y="3236976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F6814F"/>
          </a:solidFill>
          <a:ln/>
        </p:spPr>
      </p:sp>
      <p:sp>
        <p:nvSpPr>
          <p:cNvPr id="26" name="Text 23"/>
          <p:cNvSpPr/>
          <p:nvPr/>
        </p:nvSpPr>
        <p:spPr>
          <a:xfrm>
            <a:off x="4919472" y="3236976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49824" y="3291840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49824" y="3493008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routing, progressive context, role definitions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919472" y="3749040"/>
            <a:ext cx="365760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2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19472" y="3749040"/>
            <a:ext cx="438912" cy="493776"/>
          </a:xfrm>
          <a:prstGeom prst="roundRect">
            <a:avLst>
              <a:gd name="adj" fmla="val 12500"/>
            </a:avLst>
          </a:prstGeom>
          <a:solidFill>
            <a:srgbClr val="1FA971"/>
          </a:solidFill>
          <a:ln/>
        </p:spPr>
      </p:sp>
      <p:sp>
        <p:nvSpPr>
          <p:cNvPr id="31" name="Text 28"/>
          <p:cNvSpPr/>
          <p:nvPr/>
        </p:nvSpPr>
        <p:spPr>
          <a:xfrm>
            <a:off x="4919472" y="3749040"/>
            <a:ext cx="4389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49824" y="380390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49824" y="4005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Unattended parallel execution, automated entropy management, self-healing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566928" y="4645152"/>
            <a:ext cx="8010144" cy="18288"/>
          </a:xfrm>
          <a:prstGeom prst="rect">
            <a:avLst/>
          </a:prstGeom>
          <a:solidFill>
            <a:srgbClr val="E2E2EC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46908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stack: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1984248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37" name="Text 34"/>
          <p:cNvSpPr/>
          <p:nvPr/>
        </p:nvSpPr>
        <p:spPr>
          <a:xfrm>
            <a:off x="2039112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— LangChain tracing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3603833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39" name="Text 36"/>
          <p:cNvSpPr/>
          <p:nvPr/>
        </p:nvSpPr>
        <p:spPr>
          <a:xfrm>
            <a:off x="3658697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— Open-source LLM ops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5223419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41" name="Text 38"/>
          <p:cNvSpPr/>
          <p:nvPr/>
        </p:nvSpPr>
        <p:spPr>
          <a:xfrm>
            <a:off x="5278283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Arize Phoenix — Evals + tracing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6843004" y="4663440"/>
            <a:ext cx="1454993" cy="237744"/>
          </a:xfrm>
          <a:prstGeom prst="roundRect">
            <a:avLst>
              <a:gd name="adj" fmla="val 19231"/>
            </a:avLst>
          </a:prstGeom>
          <a:solidFill>
            <a:srgbClr val="F6F6FB"/>
          </a:solidFill>
          <a:ln/>
        </p:spPr>
      </p:sp>
      <p:sp>
        <p:nvSpPr>
          <p:cNvPr id="43" name="Text 40"/>
          <p:cNvSpPr/>
          <p:nvPr/>
        </p:nvSpPr>
        <p:spPr>
          <a:xfrm>
            <a:off x="6897868" y="4663440"/>
            <a:ext cx="13452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1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GenAI — GenAI conventions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Benchmarks: SWE-bench, τ-bench, GAIA, WebArena, AgentBench. Maturity model: Harness Engineering PDF.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CLOUDERA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Cloudera Agent Studio 3.0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4F4F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flexible low-code to high-code platform to create AI agents, tools, and multi-agent workflows — all through an intuitive UI.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3042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76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workflow builder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agents with tasks, tools &amp; roles; AI-assisted authoring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" y="26471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197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Catalog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7843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Built-in, custom Python, and MCP server tools — all reusable across workflows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" y="29900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626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Multi-LLM support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31272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 Inferencing, Azure OpenAI, Gemini, Anthropic, any OpenAI-compatible endpoint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" y="33329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3055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&amp; debug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4701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playback, and visual debugger in the Test panel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" y="36758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484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as endpoint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38130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UI; deploy workflows as APIs with one click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" y="40187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9913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observability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1559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(Arize) tracing integrated; monitor every agent run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" y="4361688"/>
            <a:ext cx="54864" cy="256032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3342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498848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workflows with configurable safety constraints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47488" y="1389888"/>
            <a:ext cx="3529584" cy="3291840"/>
          </a:xfrm>
          <a:prstGeom prst="roundRect">
            <a:avLst>
              <a:gd name="adj" fmla="val 2778"/>
            </a:avLst>
          </a:prstGeom>
          <a:solidFill>
            <a:srgbClr val="F6F6FB"/>
          </a:solidFill>
          <a:ln w="19050">
            <a:solidFill>
              <a:srgbClr val="E2E2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30368" y="1517904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STUDIO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212080" y="1920240"/>
            <a:ext cx="987552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4F4F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12080" y="192024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248656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5248656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742432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35" name="Text 33"/>
          <p:cNvSpPr/>
          <p:nvPr/>
        </p:nvSpPr>
        <p:spPr>
          <a:xfrm>
            <a:off x="5742432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2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309360" y="1920240"/>
            <a:ext cx="987552" cy="402336"/>
          </a:xfrm>
          <a:prstGeom prst="roundRect">
            <a:avLst>
              <a:gd name="adj" fmla="val 15909"/>
            </a:avLst>
          </a:prstGeom>
          <a:solidFill>
            <a:srgbClr val="E9E9FE"/>
          </a:solidFill>
          <a:ln w="12700">
            <a:solidFill>
              <a:srgbClr val="4F4F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92024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45936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39" name="Text 37"/>
          <p:cNvSpPr/>
          <p:nvPr/>
        </p:nvSpPr>
        <p:spPr>
          <a:xfrm>
            <a:off x="6345936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839712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6839712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2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406640" y="1920240"/>
            <a:ext cx="987552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4F4F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06640" y="192024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3216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45" name="Text 43"/>
          <p:cNvSpPr/>
          <p:nvPr/>
        </p:nvSpPr>
        <p:spPr>
          <a:xfrm>
            <a:off x="7443216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936992" y="2395728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FF3EE"/>
          </a:solidFill>
          <a:ln/>
        </p:spPr>
      </p:sp>
      <p:sp>
        <p:nvSpPr>
          <p:cNvPr id="47" name="Text 45"/>
          <p:cNvSpPr/>
          <p:nvPr/>
        </p:nvSpPr>
        <p:spPr>
          <a:xfrm>
            <a:off x="7936992" y="2395728"/>
            <a:ext cx="420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2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03520" y="2807208"/>
            <a:ext cx="786384" cy="310896"/>
          </a:xfrm>
          <a:prstGeom prst="roundRect">
            <a:avLst>
              <a:gd name="adj" fmla="val 17647"/>
            </a:avLst>
          </a:prstGeom>
          <a:solidFill>
            <a:srgbClr val="15154A"/>
          </a:solidFill>
          <a:ln/>
        </p:spPr>
      </p:sp>
      <p:sp>
        <p:nvSpPr>
          <p:cNvPr id="49" name="Text 47"/>
          <p:cNvSpPr/>
          <p:nvPr/>
        </p:nvSpPr>
        <p:spPr>
          <a:xfrm>
            <a:off x="5303520" y="28072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89904" y="280720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345936" y="2807208"/>
            <a:ext cx="786384" cy="310896"/>
          </a:xfrm>
          <a:prstGeom prst="roundRect">
            <a:avLst>
              <a:gd name="adj" fmla="val 17647"/>
            </a:avLst>
          </a:prstGeom>
          <a:solidFill>
            <a:srgbClr val="15154A"/>
          </a:solidFill>
          <a:ln/>
        </p:spPr>
      </p:sp>
      <p:sp>
        <p:nvSpPr>
          <p:cNvPr id="52" name="Text 50"/>
          <p:cNvSpPr/>
          <p:nvPr/>
        </p:nvSpPr>
        <p:spPr>
          <a:xfrm>
            <a:off x="6345936" y="28072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132320" y="2807208"/>
            <a:ext cx="256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388352" y="2807208"/>
            <a:ext cx="786384" cy="310896"/>
          </a:xfrm>
          <a:prstGeom prst="roundRect">
            <a:avLst>
              <a:gd name="adj" fmla="val 17647"/>
            </a:avLst>
          </a:prstGeom>
          <a:solidFill>
            <a:srgbClr val="15154A"/>
          </a:solidFill>
          <a:ln/>
        </p:spPr>
      </p:sp>
      <p:sp>
        <p:nvSpPr>
          <p:cNvPr id="55" name="Text 53"/>
          <p:cNvSpPr/>
          <p:nvPr/>
        </p:nvSpPr>
        <p:spPr>
          <a:xfrm>
            <a:off x="7388352" y="28072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30368" y="3310128"/>
            <a:ext cx="3163824" cy="329184"/>
          </a:xfrm>
          <a:prstGeom prst="roundRect">
            <a:avLst>
              <a:gd name="adj" fmla="val 19444"/>
            </a:avLst>
          </a:prstGeom>
          <a:solidFill>
            <a:srgbClr val="23236B">
              <a:alpha val="7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5230368" y="3310128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|  Deploy  |  Observe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230368" y="3785616"/>
            <a:ext cx="1490472" cy="347472"/>
          </a:xfrm>
          <a:prstGeom prst="roundRect">
            <a:avLst>
              <a:gd name="adj" fmla="val 18421"/>
            </a:avLst>
          </a:prstGeom>
          <a:solidFill>
            <a:srgbClr val="E9E9FE"/>
          </a:solidFill>
          <a:ln/>
        </p:spPr>
      </p:sp>
      <p:sp>
        <p:nvSpPr>
          <p:cNvPr id="59" name="Text 57"/>
          <p:cNvSpPr/>
          <p:nvPr/>
        </p:nvSpPr>
        <p:spPr>
          <a:xfrm>
            <a:off x="5230368" y="378561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4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Cloud GA (PVC 1.5.5-SP3)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885432" y="3785616"/>
            <a:ext cx="1490472" cy="347472"/>
          </a:xfrm>
          <a:prstGeom prst="roundRect">
            <a:avLst>
              <a:gd name="adj" fmla="val 18421"/>
            </a:avLst>
          </a:prstGeom>
          <a:solidFill>
            <a:srgbClr val="FFF3EE"/>
          </a:solidFill>
          <a:ln/>
        </p:spPr>
      </p:sp>
      <p:sp>
        <p:nvSpPr>
          <p:cNvPr id="61" name="Text 59"/>
          <p:cNvSpPr/>
          <p:nvPr/>
        </p:nvSpPr>
        <p:spPr>
          <a:xfrm>
            <a:off x="6885432" y="3785616"/>
            <a:ext cx="1490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Cloud (AWS, Azure — TP)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 · Agent Studio v3.0.0-b28 (PVC) / v2.3.0-b40 (Public Cloud).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292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pPr algn="r" indent="0" marL="0">
              <a:buNone/>
            </a:pPr>
            <a:r>
              <a:rPr lang="en-US" sz="1300" b="1" spc="300" kern="0" dirty="0">
                <a:solidFill>
                  <a:srgbClr val="EE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66928" y="420624"/>
            <a:ext cx="274320" cy="41148"/>
          </a:xfrm>
          <a:prstGeom prst="rect">
            <a:avLst/>
          </a:prstGeom>
          <a:solidFill>
            <a:srgbClr val="EE5A29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E5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THEORY TO PRODUCT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Studio — The Harness Pillars in Practice</a:t>
            </a:r>
            <a:endParaRPr lang="en-US" sz="27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89888"/>
          <a:ext cx="8010144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438144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 Pillar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Studio implementation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5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Progressive Context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only sees the context for its immediate task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workflow routing — each task receives only its declared prior-task context; input variables injected at run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Specialization &amp; Parallelism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agents with restricted toolsets outperform generalists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 gets its own Role, Goal, Backstory and an explicit scoped tool list — no god-mode access; Manager Agent pattern for hierarchical coordination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Memory &amp; State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lives outside the prompt window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Files (shared virtual filesystem), workflow input variables, and progress.json-style state persist across tasks and sessions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F4F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Execution &amp; Backpressure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 constraints force correct behavior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A5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guardrails, jailbreak tool, custom Python tools with typed parameters, CI/CD-ready deployment endpoints, and Phoenix observability for every run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526280"/>
            <a:ext cx="8010144" cy="329184"/>
          </a:xfrm>
          <a:prstGeom prst="roundRect">
            <a:avLst>
              <a:gd name="adj" fmla="val 19444"/>
            </a:avLst>
          </a:prstGeom>
          <a:solidFill>
            <a:srgbClr val="15154A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52628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Studio is Cloudera's production harness for AI agents</a:t>
            </a:r>
            <a:pPr indent="0" marL="0">
              <a:buNone/>
            </a:pPr>
            <a:r>
              <a:rPr lang="en-US" sz="1050" dirty="0">
                <a:solidFill>
                  <a:srgbClr val="C9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purpose-built to close the gap between the 2% deploying at scale and everyone else.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66928" y="475945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©2026 Cloudera, Inc. All Rights Reserved.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7955280" y="47594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A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Cloudera AI — The Agentic Era</dc:title>
  <dc:subject>PptxGenJS Presentation</dc:subject>
  <dc:creator>Cloudera</dc:creator>
  <cp:lastModifiedBy>Cloudera</cp:lastModifiedBy>
  <cp:revision>1</cp:revision>
  <dcterms:created xsi:type="dcterms:W3CDTF">2026-06-27T15:04:52Z</dcterms:created>
  <dcterms:modified xsi:type="dcterms:W3CDTF">2026-06-27T15:04:52Z</dcterms:modified>
</cp:coreProperties>
</file>